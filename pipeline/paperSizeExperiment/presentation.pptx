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What Makes LLMs
Promote Your Page?</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Causal inference on 65,000+ search result observations
across 1,011 B2B SaaS keywords</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200">
                <a:solidFill>
                  <a:srgbClr val="0F172A"/>
                </a:solidFill>
              </a:rPr>
              <a:t>Causal inference on 65,000+ search result observations
across 1,011 B2B SaaS keywords</a:t>
            </a:r>
          </a:p>
          <a:p>
            <a:pPr>
              <a:spcAft>
                <a:spcPts val="600"/>
              </a:spcAft>
            </a:pPr>
            <a:r>
              <a:rPr sz="1200">
                <a:solidFill>
                  <a:srgbClr val="0F172A"/>
                </a:solidFill>
              </a:rPr>
              <a:t>GEODML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The Research Question</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Traditional SEO meets LLM-powered search</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Traditional SEO</a:t>
            </a:r>
          </a:p>
          <a:p>
            <a:pPr>
              <a:spcAft>
                <a:spcPts val="600"/>
              </a:spcAft>
            </a:pPr>
            <a:r>
              <a:rPr sz="1400" b="1">
                <a:solidFill>
                  <a:srgbClr val="2563EB"/>
                </a:solidFill>
              </a:rPr>
              <a:t>Generative Engine Optimization (GEO)</a:t>
            </a:r>
          </a:p>
          <a:p>
            <a:pPr>
              <a:spcAft>
                <a:spcPts val="600"/>
              </a:spcAft>
            </a:pPr>
            <a:r>
              <a:rPr sz="1200">
                <a:solidFill>
                  <a:srgbClr val="0F172A"/>
                </a:solidFill>
              </a:rPr>
              <a:t>→ Optimized for crawlers and ranking algorithms</a:t>
            </a:r>
          </a:p>
          <a:p>
            <a:pPr>
              <a:spcAft>
                <a:spcPts val="600"/>
              </a:spcAft>
            </a:pPr>
            <a:r>
              <a:rPr sz="1200">
                <a:solidFill>
                  <a:srgbClr val="0F172A"/>
                </a:solidFill>
              </a:rPr>
              <a:t>→ Rewards link-building, technical SEO, freshness</a:t>
            </a:r>
          </a:p>
          <a:p>
            <a:pPr>
              <a:spcAft>
                <a:spcPts val="600"/>
              </a:spcAft>
            </a:pPr>
            <a:r>
              <a:rPr sz="1200">
                <a:solidFill>
                  <a:srgbClr val="0F172A"/>
                </a:solidFill>
              </a:rPr>
              <a:t>→ Decades of established best practices</a:t>
            </a:r>
          </a:p>
          <a:p>
            <a:pPr>
              <a:spcAft>
                <a:spcPts val="600"/>
              </a:spcAft>
            </a:pPr>
            <a:r>
              <a:rPr sz="1200">
                <a:solidFill>
                  <a:srgbClr val="0F172A"/>
                </a:solidFill>
              </a:rPr>
              <a:t>→ LLMs see only: position, domain, title, snippet</a:t>
            </a:r>
          </a:p>
          <a:p>
            <a:pPr>
              <a:spcAft>
                <a:spcPts val="600"/>
              </a:spcAft>
            </a:pPr>
            <a:r>
              <a:rPr sz="1200">
                <a:solidFill>
                  <a:srgbClr val="0F172A"/>
                </a:solidFill>
              </a:rPr>
              <a:t>→ Different signals may matter (structure, relevance, clarity)</a:t>
            </a:r>
          </a:p>
          <a:p>
            <a:pPr>
              <a:spcAft>
                <a:spcPts val="600"/>
              </a:spcAft>
            </a:pPr>
            <a:r>
              <a:rPr sz="1200">
                <a:solidFill>
                  <a:srgbClr val="0F172A"/>
                </a:solidFill>
              </a:rPr>
              <a:t>→ No one systematic approach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Methodology: Double Machine Learning</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Causal inference, not just correlation</a:t>
            </a:r>
          </a:p>
        </p:txBody>
      </p:sp>
      <p:graphicFrame>
        <p:nvGraphicFramePr>
          <p:cNvPr id="4" name="Table 3"/>
          <p:cNvGraphicFramePr>
            <a:graphicFrameLocks noGrp="1"/>
          </p:cNvGraphicFramePr>
          <p:nvPr/>
        </p:nvGraphicFramePr>
        <p:xfrm>
          <a:off x="548640" y="1463040"/>
          <a:ext cx="5486400" cy="1280160"/>
        </p:xfrm>
        <a:graphic>
          <a:graphicData uri="http://schemas.openxmlformats.org/drawingml/2006/table">
            <a:tbl>
              <a:tblPr firstRow="1" bandRow="1">
                <a:tableStyleId>{5C22544A-7EE6-4342-B048-85BDC9FD1C3A}</a:tableStyleId>
              </a:tblPr>
              <a:tblGrid>
                <a:gridCol w="2743200"/>
                <a:gridCol w="2743200"/>
              </a:tblGrid>
              <a:tr h="320040">
                <a:tc>
                  <a:txBody>
                    <a:bodyPr/>
                    <a:lstStyle/>
                    <a:p>
                      <a:r>
                        <a:rPr sz="1000" b="1">
                          <a:solidFill>
                            <a:srgbClr val="475569"/>
                          </a:solidFill>
                        </a:rPr>
                        <a:t>Outcome</a:t>
                      </a:r>
                    </a:p>
                  </a:txBody>
                  <a:tcPr/>
                </a:tc>
                <a:tc>
                  <a:txBody>
                    <a:bodyPr/>
                    <a:lstStyle/>
                    <a:p>
                      <a:r>
                        <a:rPr sz="1000" b="1">
                          <a:solidFill>
                            <a:srgbClr val="475569"/>
                          </a:solidFill>
                        </a:rPr>
                        <a:t>What it captures</a:t>
                      </a:r>
                    </a:p>
                  </a:txBody>
                  <a:tcPr/>
                </a:tc>
              </a:tr>
              <a:tr h="320040">
                <a:tc>
                  <a:txBody>
                    <a:bodyPr/>
                    <a:lstStyle/>
                    <a:p>
                      <a:r>
                        <a:rPr sz="1000">
                          <a:solidFill>
                            <a:srgbClr val="0F172A"/>
                          </a:solidFill>
                        </a:rPr>
                        <a:t>rank_delta</a:t>
                      </a:r>
                    </a:p>
                  </a:txBody>
                  <a:tcPr/>
                </a:tc>
                <a:tc>
                  <a:txBody>
                    <a:bodyPr/>
                    <a:lstStyle/>
                    <a:p>
                      <a:r>
                        <a:rPr sz="1000">
                          <a:solidFill>
                            <a:srgbClr val="0F172A"/>
                          </a:solidFill>
                        </a:rPr>
                        <a:t>pre_rank - post_rank</a:t>
                      </a:r>
                    </a:p>
                    <a:p>
                      <a:r>
                        <a:rPr sz="1000">
                          <a:solidFill>
                            <a:srgbClr val="0F172A"/>
                          </a:solidFill>
                        </a:rPr>
                        <a:t>Positive = LLM promoted the page</a:t>
                      </a:r>
                    </a:p>
                  </a:txBody>
                  <a:tcPr/>
                </a:tc>
              </a:tr>
              <a:tr h="320040">
                <a:tc>
                  <a:txBody>
                    <a:bodyPr/>
                    <a:lstStyle/>
                    <a:p>
                      <a:r>
                        <a:rPr sz="1000">
                          <a:solidFill>
                            <a:srgbClr val="0F172A"/>
                          </a:solidFill>
                        </a:rPr>
                        <a:t>post_rank</a:t>
                      </a:r>
                    </a:p>
                  </a:txBody>
                  <a:tcPr/>
                </a:tc>
                <a:tc>
                  <a:txBody>
                    <a:bodyPr/>
                    <a:lstStyle/>
                    <a:p>
                      <a:r>
                        <a:rPr sz="1000">
                          <a:solidFill>
                            <a:srgbClr val="0F172A"/>
                          </a:solidFill>
                        </a:rPr>
                        <a:t>Where the LLM placed it</a:t>
                      </a:r>
                    </a:p>
                    <a:p>
                      <a:r>
                        <a:rPr sz="1000">
                          <a:solidFill>
                            <a:srgbClr val="0F172A"/>
                          </a:solidFill>
                        </a:rPr>
                        <a:t>Negative coef = better (closer to #1</a:t>
                      </a:r>
                    </a:p>
                  </a:txBody>
                  <a:tcPr/>
                </a:tc>
              </a:tr>
              <a:tr h="320040">
                <a:tc>
                  <a:txBody>
                    <a:bodyPr/>
                    <a:lstStyle/>
                    <a:p>
                      <a:r>
                        <a:rPr sz="1000">
                          <a:solidFill>
                            <a:srgbClr val="0F172A"/>
                          </a:solidFill>
                        </a:rPr>
                        <a:t>pre_rank</a:t>
                      </a:r>
                    </a:p>
                  </a:txBody>
                  <a:tcPr/>
                </a:tc>
                <a:tc>
                  <a:txBody>
                    <a:bodyPr/>
                    <a:lstStyle/>
                    <a:p>
                      <a:r>
                        <a:rPr sz="1000">
                          <a:solidFill>
                            <a:srgbClr val="0F172A"/>
                          </a:solidFill>
                        </a:rPr>
                        <a:t>Where the search engine placed it</a:t>
                      </a:r>
                    </a:p>
                    <a:p>
                      <a:r>
                        <a:rPr sz="1000">
                          <a:solidFill>
                            <a:srgbClr val="0F172A"/>
                          </a:solidFill>
                        </a:rPr>
                        <a:t>Isolates SERP vs LLM effec</a:t>
                      </a:r>
                    </a:p>
                  </a:txBody>
                  <a:tcPr/>
                </a:tc>
              </a:tr>
            </a:tbl>
          </a:graphicData>
        </a:graphic>
      </p:graphicFrame>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Chernozhukov et al. (2018). Double/Debiased Machine Learning for Treatment and Structural Parameters. Econometrics Journal.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Data Pipeline</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From keyword to causal estimate in 5 stages</a:t>
            </a:r>
          </a:p>
        </p:txBody>
      </p:sp>
      <p:graphicFrame>
        <p:nvGraphicFramePr>
          <p:cNvPr id="4" name="Table 3"/>
          <p:cNvGraphicFramePr>
            <a:graphicFrameLocks noGrp="1"/>
          </p:cNvGraphicFramePr>
          <p:nvPr/>
        </p:nvGraphicFramePr>
        <p:xfrm>
          <a:off x="548640" y="1463040"/>
          <a:ext cx="8229600" cy="3520439"/>
        </p:xfrm>
        <a:graphic>
          <a:graphicData uri="http://schemas.openxmlformats.org/drawingml/2006/table">
            <a:tbl>
              <a:tblPr firstRow="1" bandRow="1">
                <a:tableStyleId>{5C22544A-7EE6-4342-B048-85BDC9FD1C3A}</a:tableStyleId>
              </a:tblPr>
              <a:tblGrid>
                <a:gridCol w="2743200"/>
                <a:gridCol w="2743200"/>
                <a:gridCol w="2743200"/>
              </a:tblGrid>
              <a:tr h="320039">
                <a:tc>
                  <a:txBody>
                    <a:bodyPr/>
                    <a:lstStyle/>
                    <a:p>
                      <a:r>
                        <a:rPr sz="1000" b="1">
                          <a:solidFill>
                            <a:srgbClr val="475569"/>
                          </a:solidFill>
                        </a:rPr>
                        <a:t>ID</a:t>
                      </a:r>
                    </a:p>
                  </a:txBody>
                  <a:tcPr/>
                </a:tc>
                <a:tc>
                  <a:txBody>
                    <a:bodyPr/>
                    <a:lstStyle/>
                    <a:p>
                      <a:r>
                        <a:rPr sz="1000" b="1">
                          <a:solidFill>
                            <a:srgbClr val="475569"/>
                          </a:solidFill>
                        </a:rPr>
                        <a:t>Name</a:t>
                      </a:r>
                    </a:p>
                  </a:txBody>
                  <a:tcPr/>
                </a:tc>
                <a:tc>
                  <a:txBody>
                    <a:bodyPr/>
                    <a:lstStyle/>
                    <a:p>
                      <a:r>
                        <a:rPr sz="1000" b="1">
                          <a:solidFill>
                            <a:srgbClr val="475569"/>
                          </a:solidFill>
                        </a:rPr>
                        <a:t>Type</a:t>
                      </a:r>
                    </a:p>
                  </a:txBody>
                  <a:tcPr/>
                </a:tc>
              </a:tr>
              <a:tr h="320039">
                <a:tc>
                  <a:txBody>
                    <a:bodyPr/>
                    <a:lstStyle/>
                    <a:p>
                      <a:r>
                        <a:rPr sz="1000">
                          <a:solidFill>
                            <a:srgbClr val="0F172A"/>
                          </a:solidFill>
                        </a:rPr>
                        <a:t>T1</a:t>
                      </a:r>
                    </a:p>
                  </a:txBody>
                  <a:tcPr/>
                </a:tc>
                <a:tc>
                  <a:txBody>
                    <a:bodyPr/>
                    <a:lstStyle/>
                    <a:p>
                      <a:r>
                        <a:rPr sz="1000">
                          <a:solidFill>
                            <a:srgbClr val="0F172A"/>
                          </a:solidFill>
                        </a:rPr>
                        <a:t>Statistical Density</a:t>
                      </a:r>
                    </a:p>
                  </a:txBody>
                  <a:tcPr/>
                </a:tc>
                <a:tc>
                  <a:txBody>
                    <a:bodyPr/>
                    <a:lstStyle/>
                    <a:p>
                      <a:r>
                        <a:rPr sz="1000">
                          <a:solidFill>
                            <a:srgbClr val="0F172A"/>
                          </a:solidFill>
                        </a:rPr>
                        <a:t>code + LLM</a:t>
                      </a:r>
                    </a:p>
                  </a:txBody>
                  <a:tcPr/>
                </a:tc>
              </a:tr>
              <a:tr h="320039">
                <a:tc>
                  <a:txBody>
                    <a:bodyPr/>
                    <a:lstStyle/>
                    <a:p>
                      <a:r>
                        <a:rPr sz="1000">
                          <a:solidFill>
                            <a:srgbClr val="0F172A"/>
                          </a:solidFill>
                        </a:rPr>
                        <a:t>T1a</a:t>
                      </a:r>
                    </a:p>
                  </a:txBody>
                  <a:tcPr/>
                </a:tc>
                <a:tc>
                  <a:txBody>
                    <a:bodyPr/>
                    <a:lstStyle/>
                    <a:p>
                      <a:r>
                        <a:rPr sz="1000">
                          <a:solidFill>
                            <a:srgbClr val="0F172A"/>
                          </a:solidFill>
                        </a:rPr>
                        <a:t>Stats Present</a:t>
                      </a:r>
                    </a:p>
                  </a:txBody>
                  <a:tcPr/>
                </a:tc>
                <a:tc>
                  <a:txBody>
                    <a:bodyPr/>
                    <a:lstStyle/>
                    <a:p>
                      <a:r>
                        <a:rPr sz="1000">
                          <a:solidFill>
                            <a:srgbClr val="0F172A"/>
                          </a:solidFill>
                        </a:rPr>
                        <a:t>binary</a:t>
                      </a:r>
                    </a:p>
                  </a:txBody>
                  <a:tcPr/>
                </a:tc>
              </a:tr>
              <a:tr h="320039">
                <a:tc>
                  <a:txBody>
                    <a:bodyPr/>
                    <a:lstStyle/>
                    <a:p>
                      <a:r>
                        <a:rPr sz="1000">
                          <a:solidFill>
                            <a:srgbClr val="0F172A"/>
                          </a:solidFill>
                        </a:rPr>
                        <a:t>T1b</a:t>
                      </a:r>
                    </a:p>
                  </a:txBody>
                  <a:tcPr/>
                </a:tc>
                <a:tc>
                  <a:txBody>
                    <a:bodyPr/>
                    <a:lstStyle/>
                    <a:p>
                      <a:r>
                        <a:rPr sz="1000">
                          <a:solidFill>
                            <a:srgbClr val="0F172A"/>
                          </a:solidFill>
                        </a:rPr>
                        <a:t>Stats Density</a:t>
                      </a:r>
                    </a:p>
                  </a:txBody>
                  <a:tcPr/>
                </a:tc>
                <a:tc>
                  <a:txBody>
                    <a:bodyPr/>
                    <a:lstStyle/>
                    <a:p>
                      <a:r>
                        <a:rPr sz="1000">
                          <a:solidFill>
                            <a:srgbClr val="0F172A"/>
                          </a:solidFill>
                        </a:rPr>
                        <a:t>continuous</a:t>
                      </a:r>
                    </a:p>
                  </a:txBody>
                  <a:tcPr/>
                </a:tc>
              </a:tr>
              <a:tr h="320039">
                <a:tc>
                  <a:txBody>
                    <a:bodyPr/>
                    <a:lstStyle/>
                    <a:p>
                      <a:r>
                        <a:rPr sz="1000">
                          <a:solidFill>
                            <a:srgbClr val="0F172A"/>
                          </a:solidFill>
                        </a:rPr>
                        <a:t>T2</a:t>
                      </a:r>
                    </a:p>
                  </a:txBody>
                  <a:tcPr/>
                </a:tc>
                <a:tc>
                  <a:txBody>
                    <a:bodyPr/>
                    <a:lstStyle/>
                    <a:p>
                      <a:r>
                        <a:rPr sz="1000">
                          <a:solidFill>
                            <a:srgbClr val="0F172A"/>
                          </a:solidFill>
                        </a:rPr>
                        <a:t>Question Headings</a:t>
                      </a:r>
                    </a:p>
                  </a:txBody>
                  <a:tcPr/>
                </a:tc>
                <a:tc>
                  <a:txBody>
                    <a:bodyPr/>
                    <a:lstStyle/>
                    <a:p>
                      <a:r>
                        <a:rPr sz="1000">
                          <a:solidFill>
                            <a:srgbClr val="0F172A"/>
                          </a:solidFill>
                        </a:rPr>
                        <a:t>code + LLM</a:t>
                      </a:r>
                    </a:p>
                  </a:txBody>
                  <a:tcPr/>
                </a:tc>
              </a:tr>
              <a:tr h="320039">
                <a:tc>
                  <a:txBody>
                    <a:bodyPr/>
                    <a:lstStyle/>
                    <a:p>
                      <a:r>
                        <a:rPr sz="1000">
                          <a:solidFill>
                            <a:srgbClr val="0F172A"/>
                          </a:solidFill>
                        </a:rPr>
                        <a:t>T2a</a:t>
                      </a:r>
                    </a:p>
                  </a:txBody>
                  <a:tcPr/>
                </a:tc>
                <a:tc>
                  <a:txBody>
                    <a:bodyPr/>
                    <a:lstStyle/>
                    <a:p>
                      <a:r>
                        <a:rPr sz="1000">
                          <a:solidFill>
                            <a:srgbClr val="0F172A"/>
                          </a:solidFill>
                        </a:rPr>
                        <a:t>Question Headings</a:t>
                      </a:r>
                    </a:p>
                  </a:txBody>
                  <a:tcPr/>
                </a:tc>
                <a:tc>
                  <a:txBody>
                    <a:bodyPr/>
                    <a:lstStyle/>
                    <a:p>
                      <a:r>
                        <a:rPr sz="1000">
                          <a:solidFill>
                            <a:srgbClr val="0F172A"/>
                          </a:solidFill>
                        </a:rPr>
                        <a:t>binary</a:t>
                      </a:r>
                    </a:p>
                  </a:txBody>
                  <a:tcPr/>
                </a:tc>
              </a:tr>
              <a:tr h="320039">
                <a:tc>
                  <a:txBody>
                    <a:bodyPr/>
                    <a:lstStyle/>
                    <a:p>
                      <a:r>
                        <a:rPr sz="1000">
                          <a:solidFill>
                            <a:srgbClr val="0F172A"/>
                          </a:solidFill>
                        </a:rPr>
                        <a:t>T2b</a:t>
                      </a:r>
                    </a:p>
                  </a:txBody>
                  <a:tcPr/>
                </a:tc>
                <a:tc>
                  <a:txBody>
                    <a:bodyPr/>
                    <a:lstStyle/>
                    <a:p>
                      <a:r>
                        <a:rPr sz="1000">
                          <a:solidFill>
                            <a:srgbClr val="0F172A"/>
                          </a:solidFill>
                        </a:rPr>
                        <a:t>Structural Modularity</a:t>
                      </a:r>
                    </a:p>
                  </a:txBody>
                  <a:tcPr/>
                </a:tc>
                <a:tc>
                  <a:txBody>
                    <a:bodyPr/>
                    <a:lstStyle/>
                    <a:p>
                      <a:r>
                        <a:rPr sz="1000">
                          <a:solidFill>
                            <a:srgbClr val="0F172A"/>
                          </a:solidFill>
                        </a:rPr>
                        <a:t>count</a:t>
                      </a:r>
                    </a:p>
                  </a:txBody>
                  <a:tcPr/>
                </a:tc>
              </a:tr>
              <a:tr h="320039">
                <a:tc>
                  <a:txBody>
                    <a:bodyPr/>
                    <a:lstStyle/>
                    <a:p>
                      <a:r>
                        <a:rPr sz="1000">
                          <a:solidFill>
                            <a:srgbClr val="0F172A"/>
                          </a:solidFill>
                        </a:rPr>
                        <a:t>T3</a:t>
                      </a:r>
                    </a:p>
                  </a:txBody>
                  <a:tcPr/>
                </a:tc>
                <a:tc>
                  <a:txBody>
                    <a:bodyPr/>
                    <a:lstStyle/>
                    <a:p>
                      <a:r>
                        <a:rPr sz="1000">
                          <a:solidFill>
                            <a:srgbClr val="0F172A"/>
                          </a:solidFill>
                        </a:rPr>
                        <a:t>Structured Data</a:t>
                      </a:r>
                    </a:p>
                  </a:txBody>
                  <a:tcPr/>
                </a:tc>
                <a:tc>
                  <a:txBody>
                    <a:bodyPr/>
                    <a:lstStyle/>
                    <a:p>
                      <a:r>
                        <a:rPr sz="1000">
                          <a:solidFill>
                            <a:srgbClr val="0F172A"/>
                          </a:solidFill>
                        </a:rPr>
                        <a:t>code + LLM + expanded</a:t>
                      </a:r>
                    </a:p>
                  </a:txBody>
                  <a:tcPr/>
                </a:tc>
              </a:tr>
              <a:tr h="320039">
                <a:tc>
                  <a:txBody>
                    <a:bodyPr/>
                    <a:lstStyle/>
                    <a:p>
                      <a:r>
                        <a:rPr sz="1000">
                          <a:solidFill>
                            <a:srgbClr val="0F172A"/>
                          </a:solidFill>
                        </a:rPr>
                        <a:t>T5</a:t>
                      </a:r>
                    </a:p>
                  </a:txBody>
                  <a:tcPr/>
                </a:tc>
                <a:tc>
                  <a:txBody>
                    <a:bodyPr/>
                    <a:lstStyle/>
                    <a:p>
                      <a:r>
                        <a:rPr sz="1000">
                          <a:solidFill>
                            <a:srgbClr val="0F172A"/>
                          </a:solidFill>
                        </a:rPr>
                        <a:t>Topical Competence</a:t>
                      </a:r>
                    </a:p>
                  </a:txBody>
                  <a:tcPr/>
                </a:tc>
                <a:tc>
                  <a:txBody>
                    <a:bodyPr/>
                    <a:lstStyle/>
                    <a:p>
                      <a:r>
                        <a:rPr sz="1000">
                          <a:solidFill>
                            <a:srgbClr val="0F172A"/>
                          </a:solidFill>
                        </a:rPr>
                        <a:t>cosine similarity</a:t>
                      </a:r>
                    </a:p>
                  </a:txBody>
                  <a:tcPr/>
                </a:tc>
              </a:tr>
              <a:tr h="320039">
                <a:tc>
                  <a:txBody>
                    <a:bodyPr/>
                    <a:lstStyle/>
                    <a:p>
                      <a:r>
                        <a:rPr sz="1000">
                          <a:solidFill>
                            <a:srgbClr val="0F172A"/>
                          </a:solidFill>
                        </a:rPr>
                        <a:t>T6</a:t>
                      </a:r>
                    </a:p>
                  </a:txBody>
                  <a:tcPr/>
                </a:tc>
                <a:tc>
                  <a:txBody>
                    <a:bodyPr/>
                    <a:lstStyle/>
                    <a:p>
                      <a:r>
                        <a:rPr sz="1000">
                          <a:solidFill>
                            <a:srgbClr val="0F172A"/>
                          </a:solidFill>
                        </a:rPr>
                        <a:t>Freshness</a:t>
                      </a:r>
                    </a:p>
                  </a:txBody>
                  <a:tcPr/>
                </a:tc>
                <a:tc>
                  <a:txBody>
                    <a:bodyPr/>
                    <a:lstStyle/>
                    <a:p>
                      <a:r>
                        <a:rPr sz="1000">
                          <a:solidFill>
                            <a:srgbClr val="0F172A"/>
                          </a:solidFill>
                        </a:rPr>
                        <a:t>ordinal 0–4</a:t>
                      </a:r>
                    </a:p>
                  </a:txBody>
                  <a:tcPr/>
                </a:tc>
              </a:tr>
              <a:tr h="320049">
                <a:tc>
                  <a:txBody>
                    <a:bodyPr/>
                    <a:lstStyle/>
                    <a:p>
                      <a:r>
                        <a:rPr sz="1000">
                          <a:solidFill>
                            <a:srgbClr val="0F172A"/>
                          </a:solidFill>
                        </a:rPr>
                        <a:t>T7</a:t>
                      </a:r>
                    </a:p>
                  </a:txBody>
                  <a:tcPr/>
                </a:tc>
                <a:tc>
                  <a:txBody>
                    <a:bodyPr/>
                    <a:lstStyle/>
                    <a:p>
                      <a:r>
                        <a:rPr sz="1000">
                          <a:solidFill>
                            <a:srgbClr val="0F172A"/>
                          </a:solidFill>
                        </a:rPr>
                        <a:t>Source: Earned</a:t>
                      </a:r>
                    </a:p>
                  </a:txBody>
                  <a:tcPr/>
                </a:tc>
                <a:tc>
                  <a:txBody>
                    <a:bodyPr/>
                    <a:lstStyle/>
                    <a:p>
                      <a:r>
                        <a:rPr sz="1000">
                          <a:solidFill>
                            <a:srgbClr val="0F172A"/>
                          </a:solidFill>
                        </a:rPr>
                        <a:t>binary (249 domains)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Variable Reference</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All treatments (causal variables) and confounders (controls) used in the DML models</a:t>
            </a:r>
          </a:p>
        </p:txBody>
      </p:sp>
      <p:graphicFrame>
        <p:nvGraphicFramePr>
          <p:cNvPr id="4" name="Table 3"/>
          <p:cNvGraphicFramePr>
            <a:graphicFrameLocks noGrp="1"/>
          </p:cNvGraphicFramePr>
          <p:nvPr/>
        </p:nvGraphicFramePr>
        <p:xfrm>
          <a:off x="548640" y="1463040"/>
          <a:ext cx="10972800" cy="3520439"/>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320039">
                <a:tc>
                  <a:txBody>
                    <a:bodyPr/>
                    <a:lstStyle/>
                    <a:p>
                      <a:r>
                        <a:rPr sz="1000" b="1">
                          <a:solidFill>
                            <a:srgbClr val="475569"/>
                          </a:solidFill>
                        </a:rPr>
                        <a:t>ID</a:t>
                      </a:r>
                    </a:p>
                  </a:txBody>
                  <a:tcPr/>
                </a:tc>
                <a:tc>
                  <a:txBody>
                    <a:bodyPr/>
                    <a:lstStyle/>
                    <a:p>
                      <a:r>
                        <a:rPr sz="1000" b="1">
                          <a:solidFill>
                            <a:srgbClr val="475569"/>
                          </a:solidFill>
                        </a:rPr>
                        <a:t>Name</a:t>
                      </a:r>
                    </a:p>
                  </a:txBody>
                  <a:tcPr/>
                </a:tc>
                <a:tc>
                  <a:txBody>
                    <a:bodyPr/>
                    <a:lstStyle/>
                    <a:p>
                      <a:r>
                        <a:rPr sz="1000" b="1">
                          <a:solidFill>
                            <a:srgbClr val="475569"/>
                          </a:solidFill>
                        </a:rPr>
                        <a:t>Type</a:t>
                      </a:r>
                    </a:p>
                  </a:txBody>
                  <a:tcPr/>
                </a:tc>
                <a:tc>
                  <a:txBody>
                    <a:bodyPr/>
                    <a:lstStyle/>
                    <a:p>
                      <a:r>
                        <a:rPr sz="1000" b="1">
                          <a:solidFill>
                            <a:srgbClr val="475569"/>
                          </a:solidFill>
                        </a:rPr>
                        <a:t>Extraction</a:t>
                      </a:r>
                    </a:p>
                  </a:txBody>
                  <a:tcPr/>
                </a:tc>
                <a:tc>
                  <a:txBody>
                    <a:bodyPr/>
                    <a:lstStyle/>
                    <a:p>
                      <a:r>
                        <a:rPr sz="1000" b="1">
                          <a:solidFill>
                            <a:srgbClr val="475569"/>
                          </a:solidFill>
                        </a:rPr>
                        <a:t>Description</a:t>
                      </a:r>
                    </a:p>
                  </a:txBody>
                  <a:tcPr/>
                </a:tc>
              </a:tr>
              <a:tr h="320039">
                <a:tc>
                  <a:txBody>
                    <a:bodyPr/>
                    <a:lstStyle/>
                    <a:p>
                      <a:r>
                        <a:rPr sz="1000">
                          <a:solidFill>
                            <a:srgbClr val="0F172A"/>
                          </a:solidFill>
                        </a:rPr>
                        <a:t>T1</a:t>
                      </a:r>
                    </a:p>
                  </a:txBody>
                  <a:tcPr/>
                </a:tc>
                <a:tc>
                  <a:txBody>
                    <a:bodyPr/>
                    <a:lstStyle/>
                    <a:p>
                      <a:r>
                        <a:rPr sz="1000">
                          <a:solidFill>
                            <a:srgbClr val="0F172A"/>
                          </a:solidFill>
                        </a:rPr>
                        <a:t>Statistical Density</a:t>
                      </a:r>
                    </a:p>
                  </a:txBody>
                  <a:tcPr/>
                </a:tc>
                <a:tc>
                  <a:txBody>
                    <a:bodyPr/>
                    <a:lstStyle/>
                    <a:p>
                      <a:r>
                        <a:rPr sz="1000">
                          <a:solidFill>
                            <a:srgbClr val="0F172A"/>
                          </a:solidFill>
                        </a:rPr>
                        <a:t>continuous</a:t>
                      </a:r>
                    </a:p>
                  </a:txBody>
                  <a:tcPr/>
                </a:tc>
                <a:tc>
                  <a:txBody>
                    <a:bodyPr/>
                    <a:lstStyle/>
                    <a:p>
                      <a:r>
                        <a:rPr sz="1000">
                          <a:solidFill>
                            <a:srgbClr val="0F172A"/>
                          </a:solidFill>
                        </a:rPr>
                        <a:t>code + LLM</a:t>
                      </a:r>
                    </a:p>
                  </a:txBody>
                  <a:tcPr/>
                </a:tc>
                <a:tc>
                  <a:txBody>
                    <a:bodyPr/>
                    <a:lstStyle/>
                    <a:p>
                      <a:r>
                        <a:rPr sz="1000">
                          <a:solidFill>
                            <a:srgbClr val="0F172A"/>
                          </a:solidFill>
                        </a:rPr>
                        <a:t>Unique numbers, percentages, dates per 500 words</a:t>
                      </a:r>
                    </a:p>
                  </a:txBody>
                  <a:tcPr/>
                </a:tc>
              </a:tr>
              <a:tr h="320039">
                <a:tc>
                  <a:txBody>
                    <a:bodyPr/>
                    <a:lstStyle/>
                    <a:p>
                      <a:r>
                        <a:rPr sz="1000">
                          <a:solidFill>
                            <a:srgbClr val="0F172A"/>
                          </a:solidFill>
                        </a:rPr>
                        <a:t>T1a</a:t>
                      </a:r>
                    </a:p>
                  </a:txBody>
                  <a:tcPr/>
                </a:tc>
                <a:tc>
                  <a:txBody>
                    <a:bodyPr/>
                    <a:lstStyle/>
                    <a:p>
                      <a:r>
                        <a:rPr sz="1000">
                          <a:solidFill>
                            <a:srgbClr val="0F172A"/>
                          </a:solidFill>
                        </a:rPr>
                        <a:t>Stats Present</a:t>
                      </a:r>
                    </a:p>
                  </a:txBody>
                  <a:tcPr/>
                </a:tc>
                <a:tc>
                  <a:txBody>
                    <a:bodyPr/>
                    <a:lstStyle/>
                    <a:p>
                      <a:r>
                        <a:rPr sz="1000">
                          <a:solidFill>
                            <a:srgbClr val="0F172A"/>
                          </a:solidFill>
                        </a:rPr>
                        <a:t>binary</a:t>
                      </a:r>
                    </a:p>
                  </a:txBody>
                  <a:tcPr/>
                </a:tc>
                <a:tc>
                  <a:txBody>
                    <a:bodyPr/>
                    <a:lstStyle/>
                    <a:p>
                      <a:r>
                        <a:rPr sz="1000">
                          <a:solidFill>
                            <a:srgbClr val="0F172A"/>
                          </a:solidFill>
                        </a:rPr>
                        <a:t>code</a:t>
                      </a:r>
                    </a:p>
                  </a:txBody>
                  <a:tcPr/>
                </a:tc>
                <a:tc>
                  <a:txBody>
                    <a:bodyPr/>
                    <a:lstStyle/>
                    <a:p>
                      <a:r>
                        <a:rPr sz="1000">
                          <a:solidFill>
                            <a:srgbClr val="0F172A"/>
                          </a:solidFill>
                        </a:rPr>
                        <a:t>1 if any statistics found on page</a:t>
                      </a:r>
                    </a:p>
                  </a:txBody>
                  <a:tcPr/>
                </a:tc>
              </a:tr>
              <a:tr h="320039">
                <a:tc>
                  <a:txBody>
                    <a:bodyPr/>
                    <a:lstStyle/>
                    <a:p>
                      <a:r>
                        <a:rPr sz="1000">
                          <a:solidFill>
                            <a:srgbClr val="0F172A"/>
                          </a:solidFill>
                        </a:rPr>
                        <a:t>T1b</a:t>
                      </a:r>
                    </a:p>
                  </a:txBody>
                  <a:tcPr/>
                </a:tc>
                <a:tc>
                  <a:txBody>
                    <a:bodyPr/>
                    <a:lstStyle/>
                    <a:p>
                      <a:r>
                        <a:rPr sz="1000">
                          <a:solidFill>
                            <a:srgbClr val="0F172A"/>
                          </a:solidFill>
                        </a:rPr>
                        <a:t>Stats Density</a:t>
                      </a:r>
                    </a:p>
                  </a:txBody>
                  <a:tcPr/>
                </a:tc>
                <a:tc>
                  <a:txBody>
                    <a:bodyPr/>
                    <a:lstStyle/>
                    <a:p>
                      <a:r>
                        <a:rPr sz="1000">
                          <a:solidFill>
                            <a:srgbClr val="0F172A"/>
                          </a:solidFill>
                        </a:rPr>
                        <a:t>continuous</a:t>
                      </a:r>
                    </a:p>
                  </a:txBody>
                  <a:tcPr/>
                </a:tc>
                <a:tc>
                  <a:txBody>
                    <a:bodyPr/>
                    <a:lstStyle/>
                    <a:p>
                      <a:r>
                        <a:rPr sz="1000">
                          <a:solidFill>
                            <a:srgbClr val="0F172A"/>
                          </a:solidFill>
                        </a:rPr>
                        <a:t>code</a:t>
                      </a:r>
                    </a:p>
                  </a:txBody>
                  <a:tcPr/>
                </a:tc>
                <a:tc>
                  <a:txBody>
                    <a:bodyPr/>
                    <a:lstStyle/>
                    <a:p>
                      <a:r>
                        <a:rPr sz="1000">
                          <a:solidFill>
                            <a:srgbClr val="0F172A"/>
                          </a:solidFill>
                        </a:rPr>
                        <a:t>Statistical density (per 500 words)</a:t>
                      </a:r>
                    </a:p>
                  </a:txBody>
                  <a:tcPr/>
                </a:tc>
              </a:tr>
              <a:tr h="320039">
                <a:tc>
                  <a:txBody>
                    <a:bodyPr/>
                    <a:lstStyle/>
                    <a:p>
                      <a:r>
                        <a:rPr sz="1000">
                          <a:solidFill>
                            <a:srgbClr val="0F172A"/>
                          </a:solidFill>
                        </a:rPr>
                        <a:t>T2</a:t>
                      </a:r>
                    </a:p>
                  </a:txBody>
                  <a:tcPr/>
                </a:tc>
                <a:tc>
                  <a:txBody>
                    <a:bodyPr/>
                    <a:lstStyle/>
                    <a:p>
                      <a:r>
                        <a:rPr sz="1000">
                          <a:solidFill>
                            <a:srgbClr val="0F172A"/>
                          </a:solidFill>
                        </a:rPr>
                        <a:t>Question Headings</a:t>
                      </a:r>
                    </a:p>
                  </a:txBody>
                  <a:tcPr/>
                </a:tc>
                <a:tc>
                  <a:txBody>
                    <a:bodyPr/>
                    <a:lstStyle/>
                    <a:p>
                      <a:r>
                        <a:rPr sz="1000">
                          <a:solidFill>
                            <a:srgbClr val="0F172A"/>
                          </a:solidFill>
                        </a:rPr>
                        <a:t>binary</a:t>
                      </a:r>
                    </a:p>
                  </a:txBody>
                  <a:tcPr/>
                </a:tc>
                <a:tc>
                  <a:txBody>
                    <a:bodyPr/>
                    <a:lstStyle/>
                    <a:p>
                      <a:r>
                        <a:rPr sz="1000">
                          <a:solidFill>
                            <a:srgbClr val="0F172A"/>
                          </a:solidFill>
                        </a:rPr>
                        <a:t>code + LLM</a:t>
                      </a:r>
                    </a:p>
                  </a:txBody>
                  <a:tcPr/>
                </a:tc>
                <a:tc>
                  <a:txBody>
                    <a:bodyPr/>
                    <a:lstStyle/>
                    <a:p>
                      <a:r>
                        <a:rPr sz="1000">
                          <a:solidFill>
                            <a:srgbClr val="0F172A"/>
                          </a:solidFill>
                        </a:rPr>
                        <a:t>H2/H3 starting with What/How/Why/etc.</a:t>
                      </a:r>
                    </a:p>
                  </a:txBody>
                  <a:tcPr/>
                </a:tc>
              </a:tr>
              <a:tr h="320039">
                <a:tc>
                  <a:txBody>
                    <a:bodyPr/>
                    <a:lstStyle/>
                    <a:p>
                      <a:r>
                        <a:rPr sz="1000">
                          <a:solidFill>
                            <a:srgbClr val="0F172A"/>
                          </a:solidFill>
                        </a:rPr>
                        <a:t>T2a</a:t>
                      </a:r>
                    </a:p>
                  </a:txBody>
                  <a:tcPr/>
                </a:tc>
                <a:tc>
                  <a:txBody>
                    <a:bodyPr/>
                    <a:lstStyle/>
                    <a:p>
                      <a:r>
                        <a:rPr sz="1000">
                          <a:solidFill>
                            <a:srgbClr val="0F172A"/>
                          </a:solidFill>
                        </a:rPr>
                        <a:t>Question Headings</a:t>
                      </a:r>
                    </a:p>
                  </a:txBody>
                  <a:tcPr/>
                </a:tc>
                <a:tc>
                  <a:txBody>
                    <a:bodyPr/>
                    <a:lstStyle/>
                    <a:p>
                      <a:r>
                        <a:rPr sz="1000">
                          <a:solidFill>
                            <a:srgbClr val="0F172A"/>
                          </a:solidFill>
                        </a:rPr>
                        <a:t>binary</a:t>
                      </a:r>
                    </a:p>
                  </a:txBody>
                  <a:tcPr/>
                </a:tc>
                <a:tc>
                  <a:txBody>
                    <a:bodyPr/>
                    <a:lstStyle/>
                    <a:p>
                      <a:r>
                        <a:rPr sz="1000">
                          <a:solidFill>
                            <a:srgbClr val="0F172A"/>
                          </a:solidFill>
                        </a:rPr>
                        <a:t>code</a:t>
                      </a:r>
                    </a:p>
                  </a:txBody>
                  <a:tcPr/>
                </a:tc>
                <a:tc>
                  <a:txBody>
                    <a:bodyPr/>
                    <a:lstStyle/>
                    <a:p>
                      <a:r>
                        <a:rPr sz="1000">
                          <a:solidFill>
                            <a:srgbClr val="0F172A"/>
                          </a:solidFill>
                        </a:rPr>
                        <a:t>FAQ-style H2/H3 present (refined measure)</a:t>
                      </a:r>
                    </a:p>
                  </a:txBody>
                  <a:tcPr/>
                </a:tc>
              </a:tr>
              <a:tr h="320039">
                <a:tc>
                  <a:txBody>
                    <a:bodyPr/>
                    <a:lstStyle/>
                    <a:p>
                      <a:r>
                        <a:rPr sz="1000">
                          <a:solidFill>
                            <a:srgbClr val="0F172A"/>
                          </a:solidFill>
                        </a:rPr>
                        <a:t>T2b</a:t>
                      </a:r>
                    </a:p>
                  </a:txBody>
                  <a:tcPr/>
                </a:tc>
                <a:tc>
                  <a:txBody>
                    <a:bodyPr/>
                    <a:lstStyle/>
                    <a:p>
                      <a:r>
                        <a:rPr sz="1000">
                          <a:solidFill>
                            <a:srgbClr val="0F172A"/>
                          </a:solidFill>
                        </a:rPr>
                        <a:t>Structural Modularity</a:t>
                      </a:r>
                    </a:p>
                  </a:txBody>
                  <a:tcPr/>
                </a:tc>
                <a:tc>
                  <a:txBody>
                    <a:bodyPr/>
                    <a:lstStyle/>
                    <a:p>
                      <a:r>
                        <a:rPr sz="1000">
                          <a:solidFill>
                            <a:srgbClr val="0F172A"/>
                          </a:solidFill>
                        </a:rPr>
                        <a:t>count</a:t>
                      </a:r>
                    </a:p>
                  </a:txBody>
                  <a:tcPr/>
                </a:tc>
                <a:tc>
                  <a:txBody>
                    <a:bodyPr/>
                    <a:lstStyle/>
                    <a:p>
                      <a:r>
                        <a:rPr sz="1000">
                          <a:solidFill>
                            <a:srgbClr val="0F172A"/>
                          </a:solidFill>
                        </a:rPr>
                        <a:t>code</a:t>
                      </a:r>
                    </a:p>
                  </a:txBody>
                  <a:tcPr/>
                </a:tc>
                <a:tc>
                  <a:txBody>
                    <a:bodyPr/>
                    <a:lstStyle/>
                    <a:p>
                      <a:r>
                        <a:rPr sz="1000">
                          <a:solidFill>
                            <a:srgbClr val="0F172A"/>
                          </a:solidFill>
                        </a:rPr>
                        <a:t>Number of distinct heading sections</a:t>
                      </a:r>
                    </a:p>
                  </a:txBody>
                  <a:tcPr/>
                </a:tc>
              </a:tr>
              <a:tr h="320039">
                <a:tc>
                  <a:txBody>
                    <a:bodyPr/>
                    <a:lstStyle/>
                    <a:p>
                      <a:r>
                        <a:rPr sz="1000">
                          <a:solidFill>
                            <a:srgbClr val="0F172A"/>
                          </a:solidFill>
                        </a:rPr>
                        <a:t>T3</a:t>
                      </a:r>
                    </a:p>
                  </a:txBody>
                  <a:tcPr/>
                </a:tc>
                <a:tc>
                  <a:txBody>
                    <a:bodyPr/>
                    <a:lstStyle/>
                    <a:p>
                      <a:r>
                        <a:rPr sz="1000">
                          <a:solidFill>
                            <a:srgbClr val="0F172A"/>
                          </a:solidFill>
                        </a:rPr>
                        <a:t>Structured Data</a:t>
                      </a:r>
                    </a:p>
                  </a:txBody>
                  <a:tcPr/>
                </a:tc>
                <a:tc>
                  <a:txBody>
                    <a:bodyPr/>
                    <a:lstStyle/>
                    <a:p>
                      <a:r>
                        <a:rPr sz="1000">
                          <a:solidFill>
                            <a:srgbClr val="0F172A"/>
                          </a:solidFill>
                        </a:rPr>
                        <a:t>binary</a:t>
                      </a:r>
                    </a:p>
                  </a:txBody>
                  <a:tcPr/>
                </a:tc>
                <a:tc>
                  <a:txBody>
                    <a:bodyPr/>
                    <a:lstStyle/>
                    <a:p>
                      <a:r>
                        <a:rPr sz="1000">
                          <a:solidFill>
                            <a:srgbClr val="0F172A"/>
                          </a:solidFill>
                        </a:rPr>
                        <a:t>code + LLM + expanded</a:t>
                      </a:r>
                    </a:p>
                  </a:txBody>
                  <a:tcPr/>
                </a:tc>
                <a:tc>
                  <a:txBody>
                    <a:bodyPr/>
                    <a:lstStyle/>
                    <a:p>
                      <a:r>
                        <a:rPr sz="1000">
                          <a:solidFill>
                            <a:srgbClr val="0F172A"/>
                          </a:solidFill>
                        </a:rPr>
                        <a:t>JSON-LD @type in {FAQ, Product, HowTo}</a:t>
                      </a:r>
                    </a:p>
                  </a:txBody>
                  <a:tcPr/>
                </a:tc>
              </a:tr>
              <a:tr h="320039">
                <a:tc>
                  <a:txBody>
                    <a:bodyPr/>
                    <a:lstStyle/>
                    <a:p>
                      <a:r>
                        <a:rPr sz="1000">
                          <a:solidFill>
                            <a:srgbClr val="0F172A"/>
                          </a:solidFill>
                        </a:rPr>
                        <a:t>T5</a:t>
                      </a:r>
                    </a:p>
                  </a:txBody>
                  <a:tcPr/>
                </a:tc>
                <a:tc>
                  <a:txBody>
                    <a:bodyPr/>
                    <a:lstStyle/>
                    <a:p>
                      <a:r>
                        <a:rPr sz="1000">
                          <a:solidFill>
                            <a:srgbClr val="0F172A"/>
                          </a:solidFill>
                        </a:rPr>
                        <a:t>Topical Competence</a:t>
                      </a:r>
                    </a:p>
                  </a:txBody>
                  <a:tcPr/>
                </a:tc>
                <a:tc>
                  <a:txBody>
                    <a:bodyPr/>
                    <a:lstStyle/>
                    <a:p>
                      <a:r>
                        <a:rPr sz="1000">
                          <a:solidFill>
                            <a:srgbClr val="0F172A"/>
                          </a:solidFill>
                        </a:rPr>
                        <a:t>continuous</a:t>
                      </a:r>
                    </a:p>
                  </a:txBody>
                  <a:tcPr/>
                </a:tc>
                <a:tc>
                  <a:txBody>
                    <a:bodyPr/>
                    <a:lstStyle/>
                    <a:p>
                      <a:r>
                        <a:rPr sz="1000">
                          <a:solidFill>
                            <a:srgbClr val="0F172A"/>
                          </a:solidFill>
                        </a:rPr>
                        <a:t>embeddings</a:t>
                      </a:r>
                    </a:p>
                  </a:txBody>
                  <a:tcPr/>
                </a:tc>
                <a:tc>
                  <a:txBody>
                    <a:bodyPr/>
                    <a:lstStyle/>
                    <a:p>
                      <a:r>
                        <a:rPr sz="1000">
                          <a:solidFill>
                            <a:srgbClr val="0F172A"/>
                          </a:solidFill>
                        </a:rPr>
                        <a:t>Cosine similarity: page content vs query (all-MiniLM-L6-v2)</a:t>
                      </a:r>
                    </a:p>
                  </a:txBody>
                  <a:tcPr/>
                </a:tc>
              </a:tr>
              <a:tr h="320039">
                <a:tc>
                  <a:txBody>
                    <a:bodyPr/>
                    <a:lstStyle/>
                    <a:p>
                      <a:r>
                        <a:rPr sz="1000">
                          <a:solidFill>
                            <a:srgbClr val="0F172A"/>
                          </a:solidFill>
                        </a:rPr>
                        <a:t>T6</a:t>
                      </a:r>
                    </a:p>
                  </a:txBody>
                  <a:tcPr/>
                </a:tc>
                <a:tc>
                  <a:txBody>
                    <a:bodyPr/>
                    <a:lstStyle/>
                    <a:p>
                      <a:r>
                        <a:rPr sz="1000">
                          <a:solidFill>
                            <a:srgbClr val="0F172A"/>
                          </a:solidFill>
                        </a:rPr>
                        <a:t>Freshness</a:t>
                      </a:r>
                    </a:p>
                  </a:txBody>
                  <a:tcPr/>
                </a:tc>
                <a:tc>
                  <a:txBody>
                    <a:bodyPr/>
                    <a:lstStyle/>
                    <a:p>
                      <a:r>
                        <a:rPr sz="1000">
                          <a:solidFill>
                            <a:srgbClr val="0F172A"/>
                          </a:solidFill>
                        </a:rPr>
                        <a:t>ordinal 0–4</a:t>
                      </a:r>
                    </a:p>
                  </a:txBody>
                  <a:tcPr/>
                </a:tc>
                <a:tc>
                  <a:txBody>
                    <a:bodyPr/>
                    <a:lstStyle/>
                    <a:p>
                      <a:r>
                        <a:rPr sz="1000">
                          <a:solidFill>
                            <a:srgbClr val="0F172A"/>
                          </a:solidFill>
                        </a:rPr>
                        <a:t>code</a:t>
                      </a:r>
                    </a:p>
                  </a:txBody>
                  <a:tcPr/>
                </a:tc>
                <a:tc>
                  <a:txBody>
                    <a:bodyPr/>
                    <a:lstStyle/>
                    <a:p>
                      <a:r>
                        <a:rPr sz="1000">
                          <a:solidFill>
                            <a:srgbClr val="0F172A"/>
                          </a:solidFill>
                        </a:rPr>
                        <a:t>Recency of publication/update dates extracted from HTML</a:t>
                      </a:r>
                    </a:p>
                  </a:txBody>
                  <a:tcPr/>
                </a:tc>
              </a:tr>
              <a:tr h="320049">
                <a:tc>
                  <a:txBody>
                    <a:bodyPr/>
                    <a:lstStyle/>
                    <a:p>
                      <a:r>
                        <a:rPr sz="1000">
                          <a:solidFill>
                            <a:srgbClr val="0F172A"/>
                          </a:solidFill>
                        </a:rPr>
                        <a:t>T7</a:t>
                      </a:r>
                    </a:p>
                  </a:txBody>
                  <a:tcPr/>
                </a:tc>
                <a:tc>
                  <a:txBody>
                    <a:bodyPr/>
                    <a:lstStyle/>
                    <a:p>
                      <a:r>
                        <a:rPr sz="1000">
                          <a:solidFill>
                            <a:srgbClr val="0F172A"/>
                          </a:solidFill>
                        </a:rPr>
                        <a:t>Source: Earned</a:t>
                      </a:r>
                    </a:p>
                  </a:txBody>
                  <a:tcPr/>
                </a:tc>
                <a:tc>
                  <a:txBody>
                    <a:bodyPr/>
                    <a:lstStyle/>
                    <a:p>
                      <a:r>
                        <a:rPr sz="1000">
                          <a:solidFill>
                            <a:srgbClr val="0F172A"/>
                          </a:solidFill>
                        </a:rPr>
                        <a:t>binary</a:t>
                      </a:r>
                    </a:p>
                  </a:txBody>
                  <a:tcPr/>
                </a:tc>
                <a:tc>
                  <a:txBody>
                    <a:bodyPr/>
                    <a:lstStyle/>
                    <a:p>
                      <a:r>
                        <a:rPr sz="1000">
                          <a:solidFill>
                            <a:srgbClr val="0F172A"/>
                          </a:solidFill>
                        </a:rPr>
                        <a:t>domain list</a:t>
                      </a:r>
                    </a:p>
                  </a:txBody>
                  <a:tcPr/>
                </a:tc>
                <a:tc>
                  <a:txBody>
                    <a:bodyPr/>
                    <a:lstStyle/>
                    <a:p>
                      <a:r>
                        <a:rPr sz="1000">
                          <a:solidFill>
                            <a:srgbClr val="0F172A"/>
                          </a:solidFill>
                        </a:rPr>
                        <a:t>1 if domain is in 249 earned-media domains (review sites, te</a:t>
                      </a:r>
                    </a:p>
                  </a:txBody>
                  <a:tcPr/>
                </a:tc>
              </a:tr>
            </a:tbl>
          </a:graphicData>
        </a:graphic>
      </p:graphicFrame>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Treatments with “code + LLM” are measured two ways: deterministic HTML parsing and LLM evaluation of a page digest. Green rows = added in Phase 2/3 expansion.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Project Evolution</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From pilot study to scaled experiment</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What Replicated</a:t>
            </a:r>
          </a:p>
          <a:p>
            <a:pPr>
              <a:spcAft>
                <a:spcPts val="600"/>
              </a:spcAft>
            </a:pPr>
            <a:r>
              <a:rPr sz="1400" b="1">
                <a:solidFill>
                  <a:srgbClr val="2563EB"/>
                </a:solidFill>
              </a:rPr>
              <a:t>What Changed</a:t>
            </a:r>
          </a:p>
          <a:p>
            <a:pPr>
              <a:spcAft>
                <a:spcPts val="600"/>
              </a:spcAft>
            </a:pPr>
            <a:r>
              <a:rPr sz="1400" b="1">
                <a:solidFill>
                  <a:srgbClr val="2563EB"/>
                </a:solidFill>
              </a:rPr>
              <a:t>What Didn't Replicate</a:t>
            </a:r>
          </a:p>
          <a:p>
            <a:pPr>
              <a:spcAft>
                <a:spcPts val="600"/>
              </a:spcAft>
            </a:pPr>
            <a:r>
              <a:rPr sz="1200">
                <a:solidFill>
                  <a:srgbClr val="0F172A"/>
                </a:solidFill>
              </a:rPr>
              <a:t>→ T7 Earned media demotion</a:t>
            </a:r>
          </a:p>
          <a:p>
            <a:pPr>
              <a:spcAft>
                <a:spcPts val="600"/>
              </a:spcAft>
            </a:pPr>
            <a:r>
              <a:rPr sz="1200">
                <a:solidFill>
                  <a:srgbClr val="0F172A"/>
                </a:solidFill>
              </a:rPr>
              <a:t>→ T6 Freshness penalty</a:t>
            </a:r>
          </a:p>
          <a:p>
            <a:pPr>
              <a:spcAft>
                <a:spcPts val="600"/>
              </a:spcAft>
            </a:pPr>
            <a:r>
              <a:rPr sz="1200">
                <a:solidFill>
                  <a:srgbClr val="0F172A"/>
                </a:solidFill>
              </a:rPr>
              <a:t>→ Code-based measurement outperforms LLM-based</a:t>
            </a:r>
          </a:p>
          <a:p>
            <a:pPr>
              <a:spcAft>
                <a:spcPts val="600"/>
              </a:spcAft>
            </a:pPr>
            <a:r>
              <a:rPr sz="1200">
                <a:solidFill>
                  <a:srgbClr val="0F172A"/>
                </a:solidFill>
              </a:rPr>
              <a:t>→ T2 Question Headings</a:t>
            </a:r>
          </a:p>
          <a:p>
            <a:pPr>
              <a:spcAft>
                <a:spcPts val="600"/>
              </a:spcAft>
            </a:pPr>
            <a:r>
              <a:rPr sz="1200">
                <a:solidFill>
                  <a:srgbClr val="0F172A"/>
                </a:solidFill>
              </a:rPr>
              <a:t>→ T3 Structured Data</a:t>
            </a:r>
          </a:p>
          <a:p>
            <a:pPr>
              <a:spcAft>
                <a:spcPts val="600"/>
              </a:spcAft>
            </a:pPr>
            <a:r>
              <a:rPr sz="1200">
                <a:solidFill>
                  <a:srgbClr val="0F172A"/>
                </a:solidFill>
              </a:rPr>
              <a:t>→ Pool size fundamentally alters LLM behavior</a:t>
            </a:r>
          </a:p>
          <a:p>
            <a:pPr>
              <a:spcAft>
                <a:spcPts val="600"/>
              </a:spcAft>
            </a:pPr>
            <a:r>
              <a:rPr sz="1200">
                <a:solidFill>
                  <a:srgbClr val="0F172A"/>
                </a:solidFill>
              </a:rPr>
              <a:t>→ T1a Stats Present (binary)</a:t>
            </a:r>
          </a:p>
          <a:p>
            <a:pPr>
              <a:spcAft>
                <a:spcPts val="600"/>
              </a:spcAft>
            </a:pPr>
            <a:r>
              <a:rPr sz="1200">
                <a:solidFill>
                  <a:srgbClr val="0F172A"/>
                </a:solidFill>
              </a:rPr>
              <a:t>→ T2 Question Headings (LLM)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Scaled Experiment Design</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3 binary dimensions → 8 independent DML experiments</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Search Engines</a:t>
            </a:r>
          </a:p>
          <a:p>
            <a:pPr>
              <a:spcAft>
                <a:spcPts val="600"/>
              </a:spcAft>
            </a:pPr>
            <a:r>
              <a:rPr sz="1400" b="1">
                <a:solidFill>
                  <a:srgbClr val="2563EB"/>
                </a:solidFill>
              </a:rPr>
              <a:t>LLM Re-rankers</a:t>
            </a:r>
          </a:p>
          <a:p>
            <a:pPr>
              <a:spcAft>
                <a:spcPts val="600"/>
              </a:spcAft>
            </a:pPr>
            <a:r>
              <a:rPr sz="1400" b="1">
                <a:solidFill>
                  <a:srgbClr val="2563EB"/>
                </a:solidFill>
              </a:rPr>
              <a:t>SERP Pool Sizes</a:t>
            </a:r>
          </a:p>
          <a:p>
            <a:pPr>
              <a:spcAft>
                <a:spcPts val="600"/>
              </a:spcAft>
            </a:pPr>
            <a:r>
              <a:rPr sz="1400" b="1">
                <a:solidFill>
                  <a:srgbClr val="2563EB"/>
                </a:solidFill>
              </a:rPr>
              <a:t>Pipeline per Run</a:t>
            </a:r>
          </a:p>
          <a:p>
            <a:pPr>
              <a:spcAft>
                <a:spcPts val="600"/>
              </a:spcAft>
            </a:pPr>
            <a:r>
              <a:rPr sz="1400" b="1">
                <a:solidFill>
                  <a:srgbClr val="2563EB"/>
                </a:solidFill>
              </a:rPr>
              <a:t>Scale</a:t>
            </a:r>
          </a:p>
          <a:p>
            <a:pPr>
              <a:spcAft>
                <a:spcPts val="600"/>
              </a:spcAft>
            </a:pPr>
            <a:r>
              <a:rPr sz="1200">
                <a:solidFill>
                  <a:srgbClr val="0F172A"/>
                </a:solidFill>
              </a:rPr>
              <a:t>→ 1,011 B2B SaaS keywords searched</a:t>
            </a:r>
          </a:p>
          <a:p>
            <a:pPr>
              <a:spcAft>
                <a:spcPts val="600"/>
              </a:spcAft>
            </a:pPr>
            <a:r>
              <a:rPr sz="1200">
                <a:solidFill>
                  <a:srgbClr val="0F172A"/>
                </a:solidFill>
              </a:rPr>
              <a:t>→ SERP results fetched (20 or 50 per query)</a:t>
            </a:r>
          </a:p>
          <a:p>
            <a:pPr>
              <a:spcAft>
                <a:spcPts val="600"/>
              </a:spcAft>
            </a:pPr>
            <a:r>
              <a:rPr sz="1200">
                <a:solidFill>
                  <a:srgbClr val="0F172A"/>
                </a:solidFill>
              </a:rPr>
              <a:t>→ LLM re-ranks to top 10</a:t>
            </a:r>
          </a:p>
          <a:p>
            <a:pPr>
              <a:spcAft>
                <a:spcPts val="600"/>
              </a:spcAft>
            </a:pPr>
            <a:r>
              <a:rPr sz="1200">
                <a:solidFill>
                  <a:srgbClr val="0F172A"/>
                </a:solidFill>
              </a:rPr>
              <a:t>→ rank_delta = pre_rank - post_rank (positive = promoted)</a:t>
            </a:r>
          </a:p>
          <a:p>
            <a:pPr>
              <a:spcAft>
                <a:spcPts val="600"/>
              </a:spcAft>
            </a:pPr>
            <a:r>
              <a:rPr sz="1200">
                <a:solidFill>
                  <a:srgbClr val="0F172A"/>
                </a:solidFill>
              </a:rPr>
              <a:t>→ HTML fetched, treatments + confounders extracted</a:t>
            </a:r>
          </a:p>
          <a:p>
            <a:pPr>
              <a:spcAft>
                <a:spcPts val="600"/>
              </a:spcAft>
            </a:pPr>
            <a:r>
              <a:rPr sz="1200">
                <a:solidFill>
                  <a:srgbClr val="0F172A"/>
                </a:solidFill>
              </a:rPr>
              <a:t>→ Double ML (PLR) estimates causal effects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Early Findings: The Pilot Study</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50 keywords, 492 observations, Llama-3.3-70B + SearXNG</a:t>
            </a:r>
          </a:p>
        </p:txBody>
      </p:sp>
      <p:graphicFrame>
        <p:nvGraphicFramePr>
          <p:cNvPr id="4" name="Table 3"/>
          <p:cNvGraphicFramePr>
            <a:graphicFrameLocks noGrp="1"/>
          </p:cNvGraphicFramePr>
          <p:nvPr/>
        </p:nvGraphicFramePr>
        <p:xfrm>
          <a:off x="548640" y="1463040"/>
          <a:ext cx="10972800" cy="1280160"/>
        </p:xfrm>
        <a:graphic>
          <a:graphicData uri="http://schemas.openxmlformats.org/drawingml/2006/table">
            <a:tbl>
              <a:tblPr firstRow="1" bandRow="1">
                <a:tableStyleId>{5C22544A-7EE6-4342-B048-85BDC9FD1C3A}</a:tableStyleId>
              </a:tblPr>
              <a:tblGrid>
                <a:gridCol w="2743200"/>
                <a:gridCol w="2743200"/>
                <a:gridCol w="2743200"/>
                <a:gridCol w="2743200"/>
              </a:tblGrid>
              <a:tr h="320040">
                <a:tc>
                  <a:txBody>
                    <a:bodyPr/>
                    <a:lstStyle/>
                    <a:p>
                      <a:r>
                        <a:rPr sz="1000" b="1">
                          <a:solidFill>
                            <a:srgbClr val="475569"/>
                          </a:solidFill>
                        </a:rPr>
                        <a:t>Treatment</a:t>
                      </a:r>
                    </a:p>
                  </a:txBody>
                  <a:tcPr/>
                </a:tc>
                <a:tc>
                  <a:txBody>
                    <a:bodyPr/>
                    <a:lstStyle/>
                    <a:p>
                      <a:r>
                        <a:rPr sz="1000" b="1">
                          <a:solidFill>
                            <a:srgbClr val="475569"/>
                          </a:solidFill>
                        </a:rPr>
                        <a:t>Outcome</a:t>
                      </a:r>
                    </a:p>
                  </a:txBody>
                  <a:tcPr/>
                </a:tc>
                <a:tc>
                  <a:txBody>
                    <a:bodyPr/>
                    <a:lstStyle/>
                    <a:p>
                      <a:r>
                        <a:rPr sz="1000" b="1">
                          <a:solidFill>
                            <a:srgbClr val="475569"/>
                          </a:solidFill>
                        </a:rPr>
                        <a:t>θ</a:t>
                      </a:r>
                    </a:p>
                  </a:txBody>
                  <a:tcPr/>
                </a:tc>
                <a:tc>
                  <a:txBody>
                    <a:bodyPr/>
                    <a:lstStyle/>
                    <a:p>
                      <a:r>
                        <a:rPr sz="1000" b="1">
                          <a:solidFill>
                            <a:srgbClr val="475569"/>
                          </a:solidFill>
                        </a:rPr>
                        <a:t>p-value</a:t>
                      </a:r>
                    </a:p>
                  </a:txBody>
                  <a:tcPr/>
                </a:tc>
              </a:tr>
              <a:tr h="320040">
                <a:tc>
                  <a:txBody>
                    <a:bodyPr/>
                    <a:lstStyle/>
                    <a:p>
                      <a:r>
                        <a:rPr sz="1000">
                          <a:solidFill>
                            <a:srgbClr val="0F172A"/>
                          </a:solidFill>
                        </a:rPr>
                        <a:t>T2 Question Headings</a:t>
                      </a:r>
                    </a:p>
                  </a:txBody>
                  <a:tcPr/>
                </a:tc>
                <a:tc>
                  <a:txBody>
                    <a:bodyPr/>
                    <a:lstStyle/>
                    <a:p>
                      <a:r>
                        <a:rPr sz="1000">
                          <a:solidFill>
                            <a:srgbClr val="0F172A"/>
                          </a:solidFill>
                        </a:rPr>
                        <a:t>rank_delta</a:t>
                      </a:r>
                    </a:p>
                  </a:txBody>
                  <a:tcPr/>
                </a:tc>
                <a:tc>
                  <a:txBody>
                    <a:bodyPr/>
                    <a:lstStyle/>
                    <a:p>
                      <a:r>
                        <a:rPr sz="1000">
                          <a:solidFill>
                            <a:srgbClr val="0F172A"/>
                          </a:solidFill>
                        </a:rPr>
                        <a:t>+1.198</a:t>
                      </a:r>
                    </a:p>
                  </a:txBody>
                  <a:tcPr/>
                </a:tc>
                <a:tc>
                  <a:txBody>
                    <a:bodyPr/>
                    <a:lstStyle/>
                    <a:p>
                      <a:r>
                        <a:rPr sz="1000">
                          <a:solidFill>
                            <a:srgbClr val="0F172A"/>
                          </a:solidFill>
                        </a:rPr>
                        <a:t>0.009 ***</a:t>
                      </a:r>
                    </a:p>
                  </a:txBody>
                  <a:tcPr/>
                </a:tc>
              </a:tr>
              <a:tr h="320040">
                <a:tc>
                  <a:txBody>
                    <a:bodyPr/>
                    <a:lstStyle/>
                    <a:p>
                      <a:r>
                        <a:rPr sz="1000">
                          <a:solidFill>
                            <a:srgbClr val="0F172A"/>
                          </a:solidFill>
                        </a:rPr>
                        <a:t>T3 Structured Data</a:t>
                      </a:r>
                    </a:p>
                  </a:txBody>
                  <a:tcPr/>
                </a:tc>
                <a:tc>
                  <a:txBody>
                    <a:bodyPr/>
                    <a:lstStyle/>
                    <a:p>
                      <a:r>
                        <a:rPr sz="1000">
                          <a:solidFill>
                            <a:srgbClr val="0F172A"/>
                          </a:solidFill>
                        </a:rPr>
                        <a:t>post_rank</a:t>
                      </a:r>
                    </a:p>
                  </a:txBody>
                  <a:tcPr/>
                </a:tc>
                <a:tc>
                  <a:txBody>
                    <a:bodyPr/>
                    <a:lstStyle/>
                    <a:p>
                      <a:r>
                        <a:rPr sz="1000">
                          <a:solidFill>
                            <a:srgbClr val="0F172A"/>
                          </a:solidFill>
                        </a:rPr>
                        <a:t>-0.719</a:t>
                      </a:r>
                    </a:p>
                  </a:txBody>
                  <a:tcPr/>
                </a:tc>
                <a:tc>
                  <a:txBody>
                    <a:bodyPr/>
                    <a:lstStyle/>
                    <a:p>
                      <a:r>
                        <a:rPr sz="1000">
                          <a:solidFill>
                            <a:srgbClr val="0F172A"/>
                          </a:solidFill>
                        </a:rPr>
                        <a:t>0.048 **</a:t>
                      </a:r>
                    </a:p>
                  </a:txBody>
                  <a:tcPr/>
                </a:tc>
              </a:tr>
              <a:tr h="320040">
                <a:tc>
                  <a:txBody>
                    <a:bodyPr/>
                    <a:lstStyle/>
                    <a:p>
                      <a:r>
                        <a:rPr sz="1000">
                          <a:solidFill>
                            <a:srgbClr val="0F172A"/>
                          </a:solidFill>
                        </a:rPr>
                        <a:t>T1 Statistical Density</a:t>
                      </a:r>
                    </a:p>
                  </a:txBody>
                  <a:tcPr/>
                </a:tc>
                <a:tc>
                  <a:txBody>
                    <a:bodyPr/>
                    <a:lstStyle/>
                    <a:p>
                      <a:r>
                        <a:rPr sz="1000">
                          <a:solidFill>
                            <a:srgbClr val="0F172A"/>
                          </a:solidFill>
                        </a:rPr>
                        <a:t>post_rank</a:t>
                      </a:r>
                    </a:p>
                  </a:txBody>
                  <a:tcPr/>
                </a:tc>
                <a:tc>
                  <a:txBody>
                    <a:bodyPr/>
                    <a:lstStyle/>
                    <a:p>
                      <a:r>
                        <a:rPr sz="1000">
                          <a:solidFill>
                            <a:srgbClr val="0F172A"/>
                          </a:solidFill>
                        </a:rPr>
                        <a:t>+0.101</a:t>
                      </a:r>
                    </a:p>
                  </a:txBody>
                  <a:tcPr/>
                </a:tc>
                <a:tc>
                  <a:txBody>
                    <a:bodyPr/>
                    <a:lstStyle/>
                    <a:p>
                      <a:r>
                        <a:rPr sz="1000">
                          <a:solidFill>
                            <a:srgbClr val="0F172A"/>
                          </a:solidFill>
                        </a:rPr>
                        <a:t>0.024 **</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Pool Size Effect: No Reversal</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Both pools re-rank top 10. SERP-20/10 vs SERP-50/10 across 8 runs, 2 LLMs, 2 engines</a:t>
            </a:r>
          </a:p>
        </p:txBody>
      </p:sp>
      <p:graphicFrame>
        <p:nvGraphicFramePr>
          <p:cNvPr id="4" name="Table 3"/>
          <p:cNvGraphicFramePr>
            <a:graphicFrameLocks noGrp="1"/>
          </p:cNvGraphicFramePr>
          <p:nvPr/>
        </p:nvGraphicFramePr>
        <p:xfrm>
          <a:off x="548640" y="1463040"/>
          <a:ext cx="10972800" cy="2240279"/>
        </p:xfrm>
        <a:graphic>
          <a:graphicData uri="http://schemas.openxmlformats.org/drawingml/2006/table">
            <a:tbl>
              <a:tblPr firstRow="1" bandRow="1">
                <a:tableStyleId>{5C22544A-7EE6-4342-B048-85BDC9FD1C3A}</a:tableStyleId>
              </a:tblPr>
              <a:tblGrid>
                <a:gridCol w="2743200"/>
                <a:gridCol w="2743200"/>
                <a:gridCol w="2743200"/>
                <a:gridCol w="2743200"/>
              </a:tblGrid>
              <a:tr h="320039">
                <a:tc>
                  <a:txBody>
                    <a:bodyPr/>
                    <a:lstStyle/>
                    <a:p>
                      <a:r>
                        <a:rPr sz="1000" b="1">
                          <a:solidFill>
                            <a:srgbClr val="475569"/>
                          </a:solidFill>
                        </a:rPr>
                        <a:t>Treatment</a:t>
                      </a:r>
                    </a:p>
                  </a:txBody>
                  <a:tcPr/>
                </a:tc>
                <a:tc>
                  <a:txBody>
                    <a:bodyPr/>
                    <a:lstStyle/>
                    <a:p>
                      <a:r>
                        <a:rPr sz="1000" b="1">
                          <a:solidFill>
                            <a:srgbClr val="475569"/>
                          </a:solidFill>
                        </a:rPr>
                        <a:t>Avg θ</a:t>
                      </a:r>
                    </a:p>
                  </a:txBody>
                  <a:tcPr/>
                </a:tc>
                <a:tc>
                  <a:txBody>
                    <a:bodyPr/>
                    <a:lstStyle/>
                    <a:p>
                      <a:r>
                        <a:rPr sz="1000" b="1">
                          <a:solidFill>
                            <a:srgbClr val="475569"/>
                          </a:solidFill>
                        </a:rPr>
                        <a:t>Sig runs</a:t>
                      </a:r>
                    </a:p>
                  </a:txBody>
                  <a:tcPr/>
                </a:tc>
                <a:tc>
                  <a:txBody>
                    <a:bodyPr/>
                    <a:lstStyle/>
                    <a:p>
                      <a:r>
                        <a:rPr sz="1000" b="1">
                          <a:solidFill>
                            <a:srgbClr val="475569"/>
                          </a:solidFill>
                        </a:rPr>
                        <a:t>Direction</a:t>
                      </a:r>
                    </a:p>
                  </a:txBody>
                  <a:tcPr/>
                </a:tc>
              </a:tr>
              <a:tr h="320039">
                <a:tc>
                  <a:txBody>
                    <a:bodyPr/>
                    <a:lstStyle/>
                    <a:p>
                      <a:r>
                        <a:rPr sz="1000">
                          <a:solidFill>
                            <a:srgbClr val="0F172A"/>
                          </a:solidFill>
                        </a:rPr>
                        <a:t>T7 Earned Media</a:t>
                      </a:r>
                    </a:p>
                  </a:txBody>
                  <a:tcPr/>
                </a:tc>
                <a:tc>
                  <a:txBody>
                    <a:bodyPr/>
                    <a:lstStyle/>
                    <a:p>
                      <a:r>
                        <a:rPr sz="1000">
                          <a:solidFill>
                            <a:srgbClr val="0F172A"/>
                          </a:solidFill>
                        </a:rPr>
                        <a:t>-1.680</a:t>
                      </a:r>
                    </a:p>
                  </a:txBody>
                  <a:tcPr/>
                </a:tc>
                <a:tc>
                  <a:txBody>
                    <a:bodyPr/>
                    <a:lstStyle/>
                    <a:p>
                      <a:r>
                        <a:rPr sz="1000">
                          <a:solidFill>
                            <a:srgbClr val="0F172A"/>
                          </a:solidFill>
                        </a:rPr>
                        <a:t>4/4</a:t>
                      </a:r>
                    </a:p>
                  </a:txBody>
                  <a:tcPr/>
                </a:tc>
                <a:tc>
                  <a:txBody>
                    <a:bodyPr/>
                    <a:lstStyle/>
                    <a:p>
                      <a:r>
                        <a:rPr sz="1000">
                          <a:solidFill>
                            <a:srgbClr val="0F172A"/>
                          </a:solidFill>
                        </a:rPr>
                        <a:t>demotes</a:t>
                      </a:r>
                    </a:p>
                  </a:txBody>
                  <a:tcPr/>
                </a:tc>
              </a:tr>
              <a:tr h="320039">
                <a:tc>
                  <a:txBody>
                    <a:bodyPr/>
                    <a:lstStyle/>
                    <a:p>
                      <a:r>
                        <a:rPr sz="1000">
                          <a:solidFill>
                            <a:srgbClr val="0F172A"/>
                          </a:solidFill>
                        </a:rPr>
                        <a:t>T5 Topical Comp.</a:t>
                      </a:r>
                    </a:p>
                  </a:txBody>
                  <a:tcPr/>
                </a:tc>
                <a:tc>
                  <a:txBody>
                    <a:bodyPr/>
                    <a:lstStyle/>
                    <a:p>
                      <a:r>
                        <a:rPr sz="1000">
                          <a:solidFill>
                            <a:srgbClr val="0F172A"/>
                          </a:solidFill>
                        </a:rPr>
                        <a:t>+0.683</a:t>
                      </a:r>
                    </a:p>
                  </a:txBody>
                  <a:tcPr/>
                </a:tc>
                <a:tc>
                  <a:txBody>
                    <a:bodyPr/>
                    <a:lstStyle/>
                    <a:p>
                      <a:r>
                        <a:rPr sz="1000">
                          <a:solidFill>
                            <a:srgbClr val="0F172A"/>
                          </a:solidFill>
                        </a:rPr>
                        <a:t>2/3</a:t>
                      </a:r>
                    </a:p>
                  </a:txBody>
                  <a:tcPr/>
                </a:tc>
                <a:tc>
                  <a:txBody>
                    <a:bodyPr/>
                    <a:lstStyle/>
                    <a:p>
                      <a:r>
                        <a:rPr sz="1000">
                          <a:solidFill>
                            <a:srgbClr val="0F172A"/>
                          </a:solidFill>
                        </a:rPr>
                        <a:t>promotes</a:t>
                      </a:r>
                    </a:p>
                  </a:txBody>
                  <a:tcPr/>
                </a:tc>
              </a:tr>
              <a:tr h="320039">
                <a:tc>
                  <a:txBody>
                    <a:bodyPr/>
                    <a:lstStyle/>
                    <a:p>
                      <a:r>
                        <a:rPr sz="1000">
                          <a:solidFill>
                            <a:srgbClr val="0F172A"/>
                          </a:solidFill>
                        </a:rPr>
                        <a:t>T2a Question Headings</a:t>
                      </a:r>
                    </a:p>
                  </a:txBody>
                  <a:tcPr/>
                </a:tc>
                <a:tc>
                  <a:txBody>
                    <a:bodyPr/>
                    <a:lstStyle/>
                    <a:p>
                      <a:r>
                        <a:rPr sz="1000">
                          <a:solidFill>
                            <a:srgbClr val="0F172A"/>
                          </a:solidFill>
                        </a:rPr>
                        <a:t>+0.166</a:t>
                      </a:r>
                    </a:p>
                  </a:txBody>
                  <a:tcPr/>
                </a:tc>
                <a:tc>
                  <a:txBody>
                    <a:bodyPr/>
                    <a:lstStyle/>
                    <a:p>
                      <a:r>
                        <a:rPr sz="1000">
                          <a:solidFill>
                            <a:srgbClr val="0F172A"/>
                          </a:solidFill>
                        </a:rPr>
                        <a:t>3/4</a:t>
                      </a:r>
                    </a:p>
                  </a:txBody>
                  <a:tcPr/>
                </a:tc>
                <a:tc>
                  <a:txBody>
                    <a:bodyPr/>
                    <a:lstStyle/>
                    <a:p>
                      <a:r>
                        <a:rPr sz="1000">
                          <a:solidFill>
                            <a:srgbClr val="0F172A"/>
                          </a:solidFill>
                        </a:rPr>
                        <a:t>promotes</a:t>
                      </a:r>
                    </a:p>
                  </a:txBody>
                  <a:tcPr/>
                </a:tc>
              </a:tr>
              <a:tr h="320039">
                <a:tc>
                  <a:txBody>
                    <a:bodyPr/>
                    <a:lstStyle/>
                    <a:p>
                      <a:r>
                        <a:rPr sz="1000">
                          <a:solidFill>
                            <a:srgbClr val="0F172A"/>
                          </a:solidFill>
                        </a:rPr>
                        <a:t>T6 Freshness</a:t>
                      </a:r>
                    </a:p>
                  </a:txBody>
                  <a:tcPr/>
                </a:tc>
                <a:tc>
                  <a:txBody>
                    <a:bodyPr/>
                    <a:lstStyle/>
                    <a:p>
                      <a:r>
                        <a:rPr sz="1000">
                          <a:solidFill>
                            <a:srgbClr val="0F172A"/>
                          </a:solidFill>
                        </a:rPr>
                        <a:t>-0.059</a:t>
                      </a:r>
                    </a:p>
                  </a:txBody>
                  <a:tcPr/>
                </a:tc>
                <a:tc>
                  <a:txBody>
                    <a:bodyPr/>
                    <a:lstStyle/>
                    <a:p>
                      <a:r>
                        <a:rPr sz="1000">
                          <a:solidFill>
                            <a:srgbClr val="0F172A"/>
                          </a:solidFill>
                        </a:rPr>
                        <a:t>3/4</a:t>
                      </a:r>
                    </a:p>
                  </a:txBody>
                  <a:tcPr/>
                </a:tc>
                <a:tc>
                  <a:txBody>
                    <a:bodyPr/>
                    <a:lstStyle/>
                    <a:p>
                      <a:r>
                        <a:rPr sz="1000">
                          <a:solidFill>
                            <a:srgbClr val="0F172A"/>
                          </a:solidFill>
                        </a:rPr>
                        <a:t>demotes</a:t>
                      </a:r>
                    </a:p>
                  </a:txBody>
                  <a:tcPr/>
                </a:tc>
              </a:tr>
              <a:tr h="320039">
                <a:tc>
                  <a:txBody>
                    <a:bodyPr/>
                    <a:lstStyle/>
                    <a:p>
                      <a:r>
                        <a:rPr sz="1000">
                          <a:solidFill>
                            <a:srgbClr val="0F172A"/>
                          </a:solidFill>
                        </a:rPr>
                        <a:t>T3 Structured Data</a:t>
                      </a:r>
                    </a:p>
                  </a:txBody>
                  <a:tcPr/>
                </a:tc>
                <a:tc>
                  <a:txBody>
                    <a:bodyPr/>
                    <a:lstStyle/>
                    <a:p>
                      <a:r>
                        <a:rPr sz="1000">
                          <a:solidFill>
                            <a:srgbClr val="0F172A"/>
                          </a:solidFill>
                        </a:rPr>
                        <a:t>+0.140</a:t>
                      </a:r>
                    </a:p>
                  </a:txBody>
                  <a:tcPr/>
                </a:tc>
                <a:tc>
                  <a:txBody>
                    <a:bodyPr/>
                    <a:lstStyle/>
                    <a:p>
                      <a:r>
                        <a:rPr sz="1000">
                          <a:solidFill>
                            <a:srgbClr val="0F172A"/>
                          </a:solidFill>
                        </a:rPr>
                        <a:t>2/4</a:t>
                      </a:r>
                    </a:p>
                  </a:txBody>
                  <a:tcPr/>
                </a:tc>
                <a:tc>
                  <a:txBody>
                    <a:bodyPr/>
                    <a:lstStyle/>
                    <a:p>
                      <a:r>
                        <a:rPr sz="1000">
                          <a:solidFill>
                            <a:srgbClr val="0F172A"/>
                          </a:solidFill>
                        </a:rPr>
                        <a:t>promotes</a:t>
                      </a:r>
                    </a:p>
                  </a:txBody>
                  <a:tcPr/>
                </a:tc>
              </a:tr>
              <a:tr h="320045">
                <a:tc>
                  <a:txBody>
                    <a:bodyPr/>
                    <a:lstStyle/>
                    <a:p>
                      <a:r>
                        <a:rPr sz="1000">
                          <a:solidFill>
                            <a:srgbClr val="0F172A"/>
                          </a:solidFill>
                        </a:rPr>
                        <a:t>T1 Stats Density</a:t>
                      </a:r>
                    </a:p>
                  </a:txBody>
                  <a:tcPr/>
                </a:tc>
                <a:tc>
                  <a:txBody>
                    <a:bodyPr/>
                    <a:lstStyle/>
                    <a:p>
                      <a:r>
                        <a:rPr sz="1000">
                          <a:solidFill>
                            <a:srgbClr val="0F172A"/>
                          </a:solidFill>
                        </a:rPr>
                        <a:t>-0.014</a:t>
                      </a:r>
                    </a:p>
                  </a:txBody>
                  <a:tcPr/>
                </a:tc>
                <a:tc>
                  <a:txBody>
                    <a:bodyPr/>
                    <a:lstStyle/>
                    <a:p>
                      <a:r>
                        <a:rPr sz="1000">
                          <a:solidFill>
                            <a:srgbClr val="0F172A"/>
                          </a:solidFill>
                        </a:rPr>
                        <a:t>2/4</a:t>
                      </a:r>
                    </a:p>
                  </a:txBody>
                  <a:tcPr/>
                </a:tc>
                <a:tc>
                  <a:txBody>
                    <a:bodyPr/>
                    <a:lstStyle/>
                    <a:p>
                      <a:r>
                        <a:rPr sz="1000">
                          <a:solidFill>
                            <a:srgbClr val="0F172A"/>
                          </a:solidFill>
                        </a:rPr>
                        <a:t>demotes</a:t>
                      </a:r>
                    </a:p>
                  </a:txBody>
                  <a:tcPr/>
                </a:tc>
              </a:tr>
            </a:tbl>
          </a:graphicData>
        </a:graphic>
      </p:graphicFrame>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8 runs (2 LLMs x 2 engines x 2 pool sizes), all re-ranking top 10. 65,426 total observations. Updated T7 with 249 EARNED_DOMAINS.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The Verdict: What LLMs Consistently Demote</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Treatments with significant negative effects across multiple runs (p&lt;0.05)</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200">
                <a:solidFill>
                  <a:srgbClr val="0F172A"/>
                </a:solidFill>
              </a:rPr>
              <a:t>Treatments with significant negative effects across multiple runs (p&lt;0.05)</a:t>
            </a:r>
          </a:p>
          <a:p>
            <a:pPr>
              <a:spcAft>
                <a:spcPts val="600"/>
              </a:spcAft>
            </a:pPr>
            <a:r>
              <a:rPr sz="1200">
                <a:solidFill>
                  <a:srgbClr val="0F172A"/>
                </a:solidFill>
              </a:rPr>
              <a:t>By far the strongest effect. Pages from review platforms (G2, Capterra), tech media (TechCrunch, ZDNet),
          consulting firms (McKinsey, Deloitte), and community sites (Reddit, Stack Overflow) are heavily demoted.
          The LLM prefers primary/official sources over third-party coverage.</a:t>
            </a:r>
          </a:p>
          <a:p>
            <a:pPr>
              <a:spcAft>
                <a:spcPts val="600"/>
              </a:spcAft>
            </a:pPr>
            <a:r>
              <a:rPr sz="1200">
                <a:solidFill>
                  <a:srgbClr val="0F172A"/>
                </a:solidFill>
              </a:rPr>
              <a:t>Pattern: LLMs heavily penalize third-party/earned media content and moderately penalize
          SEO signals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What LLMs Consistently Promote</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Positive effects on rank_delta across multiple configurations</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200">
                <a:solidFill>
                  <a:srgbClr val="0F172A"/>
                </a:solidFill>
              </a:rPr>
              <a:t>Positive effects on rank_delta across multiple configurations</a:t>
            </a:r>
          </a:p>
          <a:p>
            <a:pPr>
              <a:spcAft>
                <a:spcPts val="600"/>
              </a:spcAft>
            </a:pPr>
            <a:r>
              <a:rPr sz="1200">
                <a:solidFill>
                  <a:srgbClr val="0F172A"/>
                </a:solidFill>
              </a:rPr>
              <a:t>Pattern: Simple, clean structural signals help. Excessive or complex markup backfires.
T3-code (simple JSON-LD) promotes +0.146 while T3-expanded (complex schemas) demotes -0.144.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Full Meta-Analysis: All Treatments (Pooled)</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Pooled rank_delta, PLR method, LGBM learner</a:t>
            </a:r>
          </a:p>
        </p:txBody>
      </p:sp>
      <p:graphicFrame>
        <p:nvGraphicFramePr>
          <p:cNvPr id="4" name="Table 3"/>
          <p:cNvGraphicFramePr>
            <a:graphicFrameLocks noGrp="1"/>
          </p:cNvGraphicFramePr>
          <p:nvPr/>
        </p:nvGraphicFramePr>
        <p:xfrm>
          <a:off x="548640" y="1463040"/>
          <a:ext cx="10972800" cy="48006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320040">
                <a:tc>
                  <a:txBody>
                    <a:bodyPr/>
                    <a:lstStyle/>
                    <a:p>
                      <a:r>
                        <a:rPr sz="1000" b="1">
                          <a:solidFill>
                            <a:srgbClr val="475569"/>
                          </a:solidFill>
                        </a:rPr>
                        <a:t>Treatment</a:t>
                      </a:r>
                    </a:p>
                  </a:txBody>
                  <a:tcPr/>
                </a:tc>
                <a:tc>
                  <a:txBody>
                    <a:bodyPr/>
                    <a:lstStyle/>
                    <a:p>
                      <a:r>
                        <a:rPr sz="1000" b="1">
                          <a:solidFill>
                            <a:srgbClr val="475569"/>
                          </a:solidFill>
                        </a:rPr>
                        <a:t>n</a:t>
                      </a:r>
                    </a:p>
                  </a:txBody>
                  <a:tcPr/>
                </a:tc>
                <a:tc>
                  <a:txBody>
                    <a:bodyPr/>
                    <a:lstStyle/>
                    <a:p>
                      <a:r>
                        <a:rPr sz="1000" b="1">
                          <a:solidFill>
                            <a:srgbClr val="475569"/>
                          </a:solidFill>
                        </a:rPr>
                        <a:t>Pooled θ</a:t>
                      </a:r>
                    </a:p>
                  </a:txBody>
                  <a:tcPr/>
                </a:tc>
                <a:tc>
                  <a:txBody>
                    <a:bodyPr/>
                    <a:lstStyle/>
                    <a:p>
                      <a:r>
                        <a:rPr sz="1000" b="1">
                          <a:solidFill>
                            <a:srgbClr val="475569"/>
                          </a:solidFill>
                        </a:rPr>
                        <a:t>SE</a:t>
                      </a:r>
                    </a:p>
                  </a:txBody>
                  <a:tcPr/>
                </a:tc>
                <a:tc>
                  <a:txBody>
                    <a:bodyPr/>
                    <a:lstStyle/>
                    <a:p>
                      <a:r>
                        <a:rPr sz="1000" b="1">
                          <a:solidFill>
                            <a:srgbClr val="475569"/>
                          </a:solidFill>
                        </a:rPr>
                        <a:t>p-value</a:t>
                      </a:r>
                    </a:p>
                  </a:txBody>
                  <a:tcPr/>
                </a:tc>
              </a:tr>
              <a:tr h="320040">
                <a:tc>
                  <a:txBody>
                    <a:bodyPr/>
                    <a:lstStyle/>
                    <a:p>
                      <a:r>
                        <a:rPr sz="1000">
                          <a:solidFill>
                            <a:srgbClr val="0F172A"/>
                          </a:solidFill>
                        </a:rPr>
                        <a:t>T7 Source: Earned</a:t>
                      </a:r>
                    </a:p>
                  </a:txBody>
                  <a:tcPr/>
                </a:tc>
                <a:tc>
                  <a:txBody>
                    <a:bodyPr/>
                    <a:lstStyle/>
                    <a:p>
                      <a:r>
                        <a:rPr sz="1000">
                          <a:solidFill>
                            <a:srgbClr val="0F172A"/>
                          </a:solidFill>
                        </a:rPr>
                        <a:t>50,659</a:t>
                      </a:r>
                    </a:p>
                  </a:txBody>
                  <a:tcPr/>
                </a:tc>
                <a:tc>
                  <a:txBody>
                    <a:bodyPr/>
                    <a:lstStyle/>
                    <a:p>
                      <a:r>
                        <a:rPr sz="1000">
                          <a:solidFill>
                            <a:srgbClr val="0F172A"/>
                          </a:solidFill>
                        </a:rPr>
                        <a:t>-1.679</a:t>
                      </a:r>
                    </a:p>
                  </a:txBody>
                  <a:tcPr/>
                </a:tc>
                <a:tc>
                  <a:txBody>
                    <a:bodyPr/>
                    <a:lstStyle/>
                    <a:p>
                      <a:r>
                        <a:rPr sz="1000">
                          <a:solidFill>
                            <a:srgbClr val="0F172A"/>
                          </a:solidFill>
                        </a:rPr>
                        <a:t>0.072</a:t>
                      </a:r>
                    </a:p>
                  </a:txBody>
                  <a:tcPr/>
                </a:tc>
                <a:tc>
                  <a:txBody>
                    <a:bodyPr/>
                    <a:lstStyle/>
                    <a:p>
                      <a:r>
                        <a:rPr sz="1000">
                          <a:solidFill>
                            <a:srgbClr val="0F172A"/>
                          </a:solidFill>
                        </a:rPr>
                        <a:t>&lt;0.0001 ***</a:t>
                      </a:r>
                    </a:p>
                  </a:txBody>
                  <a:tcPr/>
                </a:tc>
              </a:tr>
              <a:tr h="320040">
                <a:tc>
                  <a:txBody>
                    <a:bodyPr/>
                    <a:lstStyle/>
                    <a:p>
                      <a:r>
                        <a:rPr sz="1000">
                          <a:solidFill>
                            <a:srgbClr val="0F172A"/>
                          </a:solidFill>
                        </a:rPr>
                        <a:t>T5 Topical Competence</a:t>
                      </a:r>
                    </a:p>
                  </a:txBody>
                  <a:tcPr/>
                </a:tc>
                <a:tc>
                  <a:txBody>
                    <a:bodyPr/>
                    <a:lstStyle/>
                    <a:p>
                      <a:r>
                        <a:rPr sz="1000">
                          <a:solidFill>
                            <a:srgbClr val="0F172A"/>
                          </a:solidFill>
                        </a:rPr>
                        <a:t>26,837</a:t>
                      </a:r>
                    </a:p>
                  </a:txBody>
                  <a:tcPr/>
                </a:tc>
                <a:tc>
                  <a:txBody>
                    <a:bodyPr/>
                    <a:lstStyle/>
                    <a:p>
                      <a:r>
                        <a:rPr sz="1000">
                          <a:solidFill>
                            <a:srgbClr val="0F172A"/>
                          </a:solidFill>
                        </a:rPr>
                        <a:t>+0.608</a:t>
                      </a:r>
                    </a:p>
                  </a:txBody>
                  <a:tcPr/>
                </a:tc>
                <a:tc>
                  <a:txBody>
                    <a:bodyPr/>
                    <a:lstStyle/>
                    <a:p>
                      <a:r>
                        <a:rPr sz="1000">
                          <a:solidFill>
                            <a:srgbClr val="0F172A"/>
                          </a:solidFill>
                        </a:rPr>
                        <a:t>0.123</a:t>
                      </a:r>
                    </a:p>
                  </a:txBody>
                  <a:tcPr/>
                </a:tc>
                <a:tc>
                  <a:txBody>
                    <a:bodyPr/>
                    <a:lstStyle/>
                    <a:p>
                      <a:r>
                        <a:rPr sz="1000">
                          <a:solidFill>
                            <a:srgbClr val="0F172A"/>
                          </a:solidFill>
                        </a:rPr>
                        <a:t>&lt;0.0001 ***</a:t>
                      </a:r>
                    </a:p>
                  </a:txBody>
                  <a:tcPr/>
                </a:tc>
              </a:tr>
              <a:tr h="320040">
                <a:tc>
                  <a:txBody>
                    <a:bodyPr/>
                    <a:lstStyle/>
                    <a:p>
                      <a:r>
                        <a:rPr sz="1000">
                          <a:solidFill>
                            <a:srgbClr val="0F172A"/>
                          </a:solidFill>
                        </a:rPr>
                        <a:t>T3 Structured Data (code)</a:t>
                      </a:r>
                    </a:p>
                  </a:txBody>
                  <a:tcPr/>
                </a:tc>
                <a:tc>
                  <a:txBody>
                    <a:bodyPr/>
                    <a:lstStyle/>
                    <a:p>
                      <a:r>
                        <a:rPr sz="1000">
                          <a:solidFill>
                            <a:srgbClr val="0F172A"/>
                          </a:solidFill>
                        </a:rPr>
                        <a:t>45,986</a:t>
                      </a:r>
                    </a:p>
                  </a:txBody>
                  <a:tcPr/>
                </a:tc>
                <a:tc>
                  <a:txBody>
                    <a:bodyPr/>
                    <a:lstStyle/>
                    <a:p>
                      <a:r>
                        <a:rPr sz="1000">
                          <a:solidFill>
                            <a:srgbClr val="0F172A"/>
                          </a:solidFill>
                        </a:rPr>
                        <a:t>+0.146</a:t>
                      </a:r>
                    </a:p>
                  </a:txBody>
                  <a:tcPr/>
                </a:tc>
                <a:tc>
                  <a:txBody>
                    <a:bodyPr/>
                    <a:lstStyle/>
                    <a:p>
                      <a:r>
                        <a:rPr sz="1000">
                          <a:solidFill>
                            <a:srgbClr val="0F172A"/>
                          </a:solidFill>
                        </a:rPr>
                        <a:t>0.030</a:t>
                      </a:r>
                    </a:p>
                  </a:txBody>
                  <a:tcPr/>
                </a:tc>
                <a:tc>
                  <a:txBody>
                    <a:bodyPr/>
                    <a:lstStyle/>
                    <a:p>
                      <a:r>
                        <a:rPr sz="1000">
                          <a:solidFill>
                            <a:srgbClr val="0F172A"/>
                          </a:solidFill>
                        </a:rPr>
                        <a:t>&lt;0.0001 ***</a:t>
                      </a:r>
                    </a:p>
                  </a:txBody>
                  <a:tcPr/>
                </a:tc>
              </a:tr>
              <a:tr h="320040">
                <a:tc>
                  <a:txBody>
                    <a:bodyPr/>
                    <a:lstStyle/>
                    <a:p>
                      <a:r>
                        <a:rPr sz="1000">
                          <a:solidFill>
                            <a:srgbClr val="0F172A"/>
                          </a:solidFill>
                        </a:rPr>
                        <a:t>T3 Structured Data (expanded)</a:t>
                      </a:r>
                    </a:p>
                  </a:txBody>
                  <a:tcPr/>
                </a:tc>
                <a:tc>
                  <a:txBody>
                    <a:bodyPr/>
                    <a:lstStyle/>
                    <a:p>
                      <a:r>
                        <a:rPr sz="1000">
                          <a:solidFill>
                            <a:srgbClr val="0F172A"/>
                          </a:solidFill>
                        </a:rPr>
                        <a:t>45,397</a:t>
                      </a:r>
                    </a:p>
                  </a:txBody>
                  <a:tcPr/>
                </a:tc>
                <a:tc>
                  <a:txBody>
                    <a:bodyPr/>
                    <a:lstStyle/>
                    <a:p>
                      <a:r>
                        <a:rPr sz="1000">
                          <a:solidFill>
                            <a:srgbClr val="0F172A"/>
                          </a:solidFill>
                        </a:rPr>
                        <a:t>-0.144</a:t>
                      </a:r>
                    </a:p>
                  </a:txBody>
                  <a:tcPr/>
                </a:tc>
                <a:tc>
                  <a:txBody>
                    <a:bodyPr/>
                    <a:lstStyle/>
                    <a:p>
                      <a:r>
                        <a:rPr sz="1000">
                          <a:solidFill>
                            <a:srgbClr val="0F172A"/>
                          </a:solidFill>
                        </a:rPr>
                        <a:t>0.025</a:t>
                      </a:r>
                    </a:p>
                  </a:txBody>
                  <a:tcPr/>
                </a:tc>
                <a:tc>
                  <a:txBody>
                    <a:bodyPr/>
                    <a:lstStyle/>
                    <a:p>
                      <a:r>
                        <a:rPr sz="1000">
                          <a:solidFill>
                            <a:srgbClr val="0F172A"/>
                          </a:solidFill>
                        </a:rPr>
                        <a:t>&lt;0.0001 ***</a:t>
                      </a:r>
                    </a:p>
                  </a:txBody>
                  <a:tcPr/>
                </a:tc>
              </a:tr>
              <a:tr h="320040">
                <a:tc>
                  <a:txBody>
                    <a:bodyPr/>
                    <a:lstStyle/>
                    <a:p>
                      <a:r>
                        <a:rPr sz="1000">
                          <a:solidFill>
                            <a:srgbClr val="0F172A"/>
                          </a:solidFill>
                        </a:rPr>
                        <a:t>T2a Question Headings (binary)</a:t>
                      </a:r>
                    </a:p>
                  </a:txBody>
                  <a:tcPr/>
                </a:tc>
                <a:tc>
                  <a:txBody>
                    <a:bodyPr/>
                    <a:lstStyle/>
                    <a:p>
                      <a:r>
                        <a:rPr sz="1000">
                          <a:solidFill>
                            <a:srgbClr val="0F172A"/>
                          </a:solidFill>
                        </a:rPr>
                        <a:t>45,397</a:t>
                      </a:r>
                    </a:p>
                  </a:txBody>
                  <a:tcPr/>
                </a:tc>
                <a:tc>
                  <a:txBody>
                    <a:bodyPr/>
                    <a:lstStyle/>
                    <a:p>
                      <a:r>
                        <a:rPr sz="1000">
                          <a:solidFill>
                            <a:srgbClr val="0F172A"/>
                          </a:solidFill>
                        </a:rPr>
                        <a:t>+0.104</a:t>
                      </a:r>
                    </a:p>
                  </a:txBody>
                  <a:tcPr/>
                </a:tc>
                <a:tc>
                  <a:txBody>
                    <a:bodyPr/>
                    <a:lstStyle/>
                    <a:p>
                      <a:r>
                        <a:rPr sz="1000">
                          <a:solidFill>
                            <a:srgbClr val="0F172A"/>
                          </a:solidFill>
                        </a:rPr>
                        <a:t>0.029</a:t>
                      </a:r>
                    </a:p>
                  </a:txBody>
                  <a:tcPr/>
                </a:tc>
                <a:tc>
                  <a:txBody>
                    <a:bodyPr/>
                    <a:lstStyle/>
                    <a:p>
                      <a:r>
                        <a:rPr sz="1000">
                          <a:solidFill>
                            <a:srgbClr val="0F172A"/>
                          </a:solidFill>
                        </a:rPr>
                        <a:t>0.0003 ***</a:t>
                      </a:r>
                    </a:p>
                  </a:txBody>
                  <a:tcPr/>
                </a:tc>
              </a:tr>
              <a:tr h="320040">
                <a:tc>
                  <a:txBody>
                    <a:bodyPr/>
                    <a:lstStyle/>
                    <a:p>
                      <a:r>
                        <a:rPr sz="1000">
                          <a:solidFill>
                            <a:srgbClr val="0F172A"/>
                          </a:solidFill>
                        </a:rPr>
                        <a:t>T2 Question Headings (code)</a:t>
                      </a:r>
                    </a:p>
                  </a:txBody>
                  <a:tcPr/>
                </a:tc>
                <a:tc>
                  <a:txBody>
                    <a:bodyPr/>
                    <a:lstStyle/>
                    <a:p>
                      <a:r>
                        <a:rPr sz="1000">
                          <a:solidFill>
                            <a:srgbClr val="0F172A"/>
                          </a:solidFill>
                        </a:rPr>
                        <a:t>45,986</a:t>
                      </a:r>
                    </a:p>
                  </a:txBody>
                  <a:tcPr/>
                </a:tc>
                <a:tc>
                  <a:txBody>
                    <a:bodyPr/>
                    <a:lstStyle/>
                    <a:p>
                      <a:r>
                        <a:rPr sz="1000">
                          <a:solidFill>
                            <a:srgbClr val="0F172A"/>
                          </a:solidFill>
                        </a:rPr>
                        <a:t>+0.065</a:t>
                      </a:r>
                    </a:p>
                  </a:txBody>
                  <a:tcPr/>
                </a:tc>
                <a:tc>
                  <a:txBody>
                    <a:bodyPr/>
                    <a:lstStyle/>
                    <a:p>
                      <a:r>
                        <a:rPr sz="1000">
                          <a:solidFill>
                            <a:srgbClr val="0F172A"/>
                          </a:solidFill>
                        </a:rPr>
                        <a:t>0.026</a:t>
                      </a:r>
                    </a:p>
                  </a:txBody>
                  <a:tcPr/>
                </a:tc>
                <a:tc>
                  <a:txBody>
                    <a:bodyPr/>
                    <a:lstStyle/>
                    <a:p>
                      <a:r>
                        <a:rPr sz="1000">
                          <a:solidFill>
                            <a:srgbClr val="0F172A"/>
                          </a:solidFill>
                        </a:rPr>
                        <a:t>0.013 **</a:t>
                      </a:r>
                    </a:p>
                  </a:txBody>
                  <a:tcPr/>
                </a:tc>
              </a:tr>
              <a:tr h="320040">
                <a:tc>
                  <a:txBody>
                    <a:bodyPr/>
                    <a:lstStyle/>
                    <a:p>
                      <a:r>
                        <a:rPr sz="1000">
                          <a:solidFill>
                            <a:srgbClr val="0F172A"/>
                          </a:solidFill>
                        </a:rPr>
                        <a:t>T6 Freshness</a:t>
                      </a:r>
                    </a:p>
                  </a:txBody>
                  <a:tcPr/>
                </a:tc>
                <a:tc>
                  <a:txBody>
                    <a:bodyPr/>
                    <a:lstStyle/>
                    <a:p>
                      <a:r>
                        <a:rPr sz="1000">
                          <a:solidFill>
                            <a:srgbClr val="0F172A"/>
                          </a:solidFill>
                        </a:rPr>
                        <a:t>45,397</a:t>
                      </a:r>
                    </a:p>
                  </a:txBody>
                  <a:tcPr/>
                </a:tc>
                <a:tc>
                  <a:txBody>
                    <a:bodyPr/>
                    <a:lstStyle/>
                    <a:p>
                      <a:r>
                        <a:rPr sz="1000">
                          <a:solidFill>
                            <a:srgbClr val="0F172A"/>
                          </a:solidFill>
                        </a:rPr>
                        <a:t>-0.056</a:t>
                      </a:r>
                    </a:p>
                  </a:txBody>
                  <a:tcPr/>
                </a:tc>
                <a:tc>
                  <a:txBody>
                    <a:bodyPr/>
                    <a:lstStyle/>
                    <a:p>
                      <a:r>
                        <a:rPr sz="1000">
                          <a:solidFill>
                            <a:srgbClr val="0F172A"/>
                          </a:solidFill>
                        </a:rPr>
                        <a:t>0.007</a:t>
                      </a:r>
                    </a:p>
                  </a:txBody>
                  <a:tcPr/>
                </a:tc>
                <a:tc>
                  <a:txBody>
                    <a:bodyPr/>
                    <a:lstStyle/>
                    <a:p>
                      <a:r>
                        <a:rPr sz="1000">
                          <a:solidFill>
                            <a:srgbClr val="0F172A"/>
                          </a:solidFill>
                        </a:rPr>
                        <a:t>&lt;0.0001 ***</a:t>
                      </a:r>
                    </a:p>
                  </a:txBody>
                  <a:tcPr/>
                </a:tc>
              </a:tr>
              <a:tr h="320040">
                <a:tc>
                  <a:txBody>
                    <a:bodyPr/>
                    <a:lstStyle/>
                    <a:p>
                      <a:r>
                        <a:rPr sz="1000">
                          <a:solidFill>
                            <a:srgbClr val="0F172A"/>
                          </a:solidFill>
                        </a:rPr>
                        <a:t>T1 Stat. Density (code)</a:t>
                      </a:r>
                    </a:p>
                  </a:txBody>
                  <a:tcPr/>
                </a:tc>
                <a:tc>
                  <a:txBody>
                    <a:bodyPr/>
                    <a:lstStyle/>
                    <a:p>
                      <a:r>
                        <a:rPr sz="1000">
                          <a:solidFill>
                            <a:srgbClr val="0F172A"/>
                          </a:solidFill>
                        </a:rPr>
                        <a:t>44,628</a:t>
                      </a:r>
                    </a:p>
                  </a:txBody>
                  <a:tcPr/>
                </a:tc>
                <a:tc>
                  <a:txBody>
                    <a:bodyPr/>
                    <a:lstStyle/>
                    <a:p>
                      <a:r>
                        <a:rPr sz="1000">
                          <a:solidFill>
                            <a:srgbClr val="0F172A"/>
                          </a:solidFill>
                        </a:rPr>
                        <a:t>-0.017</a:t>
                      </a:r>
                    </a:p>
                  </a:txBody>
                  <a:tcPr/>
                </a:tc>
                <a:tc>
                  <a:txBody>
                    <a:bodyPr/>
                    <a:lstStyle/>
                    <a:p>
                      <a:r>
                        <a:rPr sz="1000">
                          <a:solidFill>
                            <a:srgbClr val="0F172A"/>
                          </a:solidFill>
                        </a:rPr>
                        <a:t>0.002</a:t>
                      </a:r>
                    </a:p>
                  </a:txBody>
                  <a:tcPr/>
                </a:tc>
                <a:tc>
                  <a:txBody>
                    <a:bodyPr/>
                    <a:lstStyle/>
                    <a:p>
                      <a:r>
                        <a:rPr sz="1000">
                          <a:solidFill>
                            <a:srgbClr val="0F172A"/>
                          </a:solidFill>
                        </a:rPr>
                        <a:t>&lt;0.0001 ***</a:t>
                      </a:r>
                    </a:p>
                  </a:txBody>
                  <a:tcPr/>
                </a:tc>
              </a:tr>
              <a:tr h="320040">
                <a:tc>
                  <a:txBody>
                    <a:bodyPr/>
                    <a:lstStyle/>
                    <a:p>
                      <a:r>
                        <a:rPr sz="1000">
                          <a:solidFill>
                            <a:srgbClr val="0F172A"/>
                          </a:solidFill>
                        </a:rPr>
                        <a:t>T1b Stats Density</a:t>
                      </a:r>
                    </a:p>
                  </a:txBody>
                  <a:tcPr/>
                </a:tc>
                <a:tc>
                  <a:txBody>
                    <a:bodyPr/>
                    <a:lstStyle/>
                    <a:p>
                      <a:r>
                        <a:rPr sz="1000">
                          <a:solidFill>
                            <a:srgbClr val="0F172A"/>
                          </a:solidFill>
                        </a:rPr>
                        <a:t>44,060</a:t>
                      </a:r>
                    </a:p>
                  </a:txBody>
                  <a:tcPr/>
                </a:tc>
                <a:tc>
                  <a:txBody>
                    <a:bodyPr/>
                    <a:lstStyle/>
                    <a:p>
                      <a:r>
                        <a:rPr sz="1000">
                          <a:solidFill>
                            <a:srgbClr val="0F172A"/>
                          </a:solidFill>
                        </a:rPr>
                        <a:t>-0.014</a:t>
                      </a:r>
                    </a:p>
                  </a:txBody>
                  <a:tcPr/>
                </a:tc>
                <a:tc>
                  <a:txBody>
                    <a:bodyPr/>
                    <a:lstStyle/>
                    <a:p>
                      <a:r>
                        <a:rPr sz="1000">
                          <a:solidFill>
                            <a:srgbClr val="0F172A"/>
                          </a:solidFill>
                        </a:rPr>
                        <a:t>0.002</a:t>
                      </a:r>
                    </a:p>
                  </a:txBody>
                  <a:tcPr/>
                </a:tc>
                <a:tc>
                  <a:txBody>
                    <a:bodyPr/>
                    <a:lstStyle/>
                    <a:p>
                      <a:r>
                        <a:rPr sz="1000">
                          <a:solidFill>
                            <a:srgbClr val="0F172A"/>
                          </a:solidFill>
                        </a:rPr>
                        <a:t>&lt;0.0001 ***</a:t>
                      </a:r>
                    </a:p>
                  </a:txBody>
                  <a:tcPr/>
                </a:tc>
              </a:tr>
              <a:tr h="320040">
                <a:tc>
                  <a:txBody>
                    <a:bodyPr/>
                    <a:lstStyle/>
                    <a:p>
                      <a:r>
                        <a:rPr sz="1000">
                          <a:solidFill>
                            <a:srgbClr val="0F172A"/>
                          </a:solidFill>
                        </a:rPr>
                        <a:t>T2b Structural Modularity</a:t>
                      </a:r>
                    </a:p>
                  </a:txBody>
                  <a:tcPr/>
                </a:tc>
                <a:tc>
                  <a:txBody>
                    <a:bodyPr/>
                    <a:lstStyle/>
                    <a:p>
                      <a:r>
                        <a:rPr sz="1000">
                          <a:solidFill>
                            <a:srgbClr val="0F172A"/>
                          </a:solidFill>
                        </a:rPr>
                        <a:t>45,397</a:t>
                      </a:r>
                    </a:p>
                  </a:txBody>
                  <a:tcPr/>
                </a:tc>
                <a:tc>
                  <a:txBody>
                    <a:bodyPr/>
                    <a:lstStyle/>
                    <a:p>
                      <a:r>
                        <a:rPr sz="1000">
                          <a:solidFill>
                            <a:srgbClr val="0F172A"/>
                          </a:solidFill>
                        </a:rPr>
                        <a:t>+0.002</a:t>
                      </a:r>
                    </a:p>
                  </a:txBody>
                  <a:tcPr/>
                </a:tc>
                <a:tc>
                  <a:txBody>
                    <a:bodyPr/>
                    <a:lstStyle/>
                    <a:p>
                      <a:r>
                        <a:rPr sz="1000">
                          <a:solidFill>
                            <a:srgbClr val="0F172A"/>
                          </a:solidFill>
                        </a:rPr>
                        <a:t>0.001</a:t>
                      </a:r>
                    </a:p>
                  </a:txBody>
                  <a:tcPr/>
                </a:tc>
                <a:tc>
                  <a:txBody>
                    <a:bodyPr/>
                    <a:lstStyle/>
                    <a:p>
                      <a:r>
                        <a:rPr sz="1000">
                          <a:solidFill>
                            <a:srgbClr val="0F172A"/>
                          </a:solidFill>
                        </a:rPr>
                        <a:t>0.0010 ***</a:t>
                      </a:r>
                    </a:p>
                  </a:txBody>
                  <a:tcPr/>
                </a:tc>
              </a:tr>
              <a:tr h="320040">
                <a:tc>
                  <a:txBody>
                    <a:bodyPr/>
                    <a:lstStyle/>
                    <a:p>
                      <a:r>
                        <a:rPr sz="1000">
                          <a:solidFill>
                            <a:srgbClr val="0F172A"/>
                          </a:solidFill>
                        </a:rPr>
                        <a:t>T3 Structured Data (LLM)</a:t>
                      </a:r>
                    </a:p>
                  </a:txBody>
                  <a:tcPr/>
                </a:tc>
                <a:tc>
                  <a:txBody>
                    <a:bodyPr/>
                    <a:lstStyle/>
                    <a:p>
                      <a:r>
                        <a:rPr sz="1000">
                          <a:solidFill>
                            <a:srgbClr val="0F172A"/>
                          </a:solidFill>
                        </a:rPr>
                        <a:t>40,690</a:t>
                      </a:r>
                    </a:p>
                  </a:txBody>
                  <a:tcPr/>
                </a:tc>
                <a:tc>
                  <a:txBody>
                    <a:bodyPr/>
                    <a:lstStyle/>
                    <a:p>
                      <a:r>
                        <a:rPr sz="1000">
                          <a:solidFill>
                            <a:srgbClr val="0F172A"/>
                          </a:solidFill>
                        </a:rPr>
                        <a:t>+0.055</a:t>
                      </a:r>
                    </a:p>
                  </a:txBody>
                  <a:tcPr/>
                </a:tc>
                <a:tc>
                  <a:txBody>
                    <a:bodyPr/>
                    <a:lstStyle/>
                    <a:p>
                      <a:r>
                        <a:rPr sz="1000">
                          <a:solidFill>
                            <a:srgbClr val="0F172A"/>
                          </a:solidFill>
                        </a:rPr>
                        <a:t>0.025</a:t>
                      </a:r>
                    </a:p>
                  </a:txBody>
                  <a:tcPr/>
                </a:tc>
                <a:tc>
                  <a:txBody>
                    <a:bodyPr/>
                    <a:lstStyle/>
                    <a:p>
                      <a:r>
                        <a:rPr sz="1000">
                          <a:solidFill>
                            <a:srgbClr val="0F172A"/>
                          </a:solidFill>
                        </a:rPr>
                        <a:t>0.030 **</a:t>
                      </a:r>
                    </a:p>
                  </a:txBody>
                  <a:tcPr/>
                </a:tc>
              </a:tr>
              <a:tr h="320040">
                <a:tc>
                  <a:txBody>
                    <a:bodyPr/>
                    <a:lstStyle/>
                    <a:p>
                      <a:r>
                        <a:rPr sz="1000">
                          <a:solidFill>
                            <a:srgbClr val="0F172A"/>
                          </a:solidFill>
                        </a:rPr>
                        <a:t>T1 Stat. Density (LLM)</a:t>
                      </a:r>
                    </a:p>
                  </a:txBody>
                  <a:tcPr/>
                </a:tc>
                <a:tc>
                  <a:txBody>
                    <a:bodyPr/>
                    <a:lstStyle/>
                    <a:p>
                      <a:r>
                        <a:rPr sz="1000">
                          <a:solidFill>
                            <a:srgbClr val="0F172A"/>
                          </a:solidFill>
                        </a:rPr>
                        <a:t>40,690</a:t>
                      </a:r>
                    </a:p>
                  </a:txBody>
                  <a:tcPr/>
                </a:tc>
                <a:tc>
                  <a:txBody>
                    <a:bodyPr/>
                    <a:lstStyle/>
                    <a:p>
                      <a:r>
                        <a:rPr sz="1000">
                          <a:solidFill>
                            <a:srgbClr val="0F172A"/>
                          </a:solidFill>
                        </a:rPr>
                        <a:t>-0.002</a:t>
                      </a:r>
                    </a:p>
                  </a:txBody>
                  <a:tcPr/>
                </a:tc>
                <a:tc>
                  <a:txBody>
                    <a:bodyPr/>
                    <a:lstStyle/>
                    <a:p>
                      <a:r>
                        <a:rPr sz="1000">
                          <a:solidFill>
                            <a:srgbClr val="0F172A"/>
                          </a:solidFill>
                        </a:rPr>
                        <a:t>0.002</a:t>
                      </a:r>
                    </a:p>
                  </a:txBody>
                  <a:tcPr/>
                </a:tc>
                <a:tc>
                  <a:txBody>
                    <a:bodyPr/>
                    <a:lstStyle/>
                    <a:p>
                      <a:r>
                        <a:rPr sz="1000">
                          <a:solidFill>
                            <a:srgbClr val="0F172A"/>
                          </a:solidFill>
                        </a:rPr>
                        <a:t>0.375</a:t>
                      </a:r>
                    </a:p>
                  </a:txBody>
                  <a:tcPr/>
                </a:tc>
              </a:tr>
              <a:tr h="320040">
                <a:tc>
                  <a:txBody>
                    <a:bodyPr/>
                    <a:lstStyle/>
                    <a:p>
                      <a:r>
                        <a:rPr sz="1000">
                          <a:solidFill>
                            <a:srgbClr val="0F172A"/>
                          </a:solidFill>
                        </a:rPr>
                        <a:t>T2 Question Headings (LLM)</a:t>
                      </a:r>
                    </a:p>
                  </a:txBody>
                  <a:tcPr/>
                </a:tc>
                <a:tc>
                  <a:txBody>
                    <a:bodyPr/>
                    <a:lstStyle/>
                    <a:p>
                      <a:r>
                        <a:rPr sz="1000">
                          <a:solidFill>
                            <a:srgbClr val="0F172A"/>
                          </a:solidFill>
                        </a:rPr>
                        <a:t>40,690</a:t>
                      </a:r>
                    </a:p>
                  </a:txBody>
                  <a:tcPr/>
                </a:tc>
                <a:tc>
                  <a:txBody>
                    <a:bodyPr/>
                    <a:lstStyle/>
                    <a:p>
                      <a:r>
                        <a:rPr sz="1000">
                          <a:solidFill>
                            <a:srgbClr val="0F172A"/>
                          </a:solidFill>
                        </a:rPr>
                        <a:t>-0.035</a:t>
                      </a:r>
                    </a:p>
                  </a:txBody>
                  <a:tcPr/>
                </a:tc>
                <a:tc>
                  <a:txBody>
                    <a:bodyPr/>
                    <a:lstStyle/>
                    <a:p>
                      <a:r>
                        <a:rPr sz="1000">
                          <a:solidFill>
                            <a:srgbClr val="0F172A"/>
                          </a:solidFill>
                        </a:rPr>
                        <a:t>0.026</a:t>
                      </a:r>
                    </a:p>
                  </a:txBody>
                  <a:tcPr/>
                </a:tc>
                <a:tc>
                  <a:txBody>
                    <a:bodyPr/>
                    <a:lstStyle/>
                    <a:p>
                      <a:r>
                        <a:rPr sz="1000">
                          <a:solidFill>
                            <a:srgbClr val="0F172A"/>
                          </a:solidFill>
                        </a:rPr>
                        <a:t>0.184</a:t>
                      </a:r>
                    </a:p>
                  </a:txBody>
                  <a:tcPr/>
                </a:tc>
              </a:tr>
              <a:tr h="320040">
                <a:tc>
                  <a:txBody>
                    <a:bodyPr/>
                    <a:lstStyle/>
                    <a:p>
                      <a:r>
                        <a:rPr sz="1000">
                          <a:solidFill>
                            <a:srgbClr val="0F172A"/>
                          </a:solidFill>
                        </a:rPr>
                        <a:t>T1a Stats Present</a:t>
                      </a:r>
                    </a:p>
                  </a:txBody>
                  <a:tcPr/>
                </a:tc>
                <a:tc>
                  <a:txBody>
                    <a:bodyPr/>
                    <a:lstStyle/>
                    <a:p>
                      <a:r>
                        <a:rPr sz="1000">
                          <a:solidFill>
                            <a:srgbClr val="0F172A"/>
                          </a:solidFill>
                        </a:rPr>
                        <a:t>45,397</a:t>
                      </a:r>
                    </a:p>
                  </a:txBody>
                  <a:tcPr/>
                </a:tc>
                <a:tc>
                  <a:txBody>
                    <a:bodyPr/>
                    <a:lstStyle/>
                    <a:p>
                      <a:r>
                        <a:rPr sz="1000">
                          <a:solidFill>
                            <a:srgbClr val="0F172A"/>
                          </a:solidFill>
                        </a:rPr>
                        <a:t>+0.006</a:t>
                      </a:r>
                    </a:p>
                  </a:txBody>
                  <a:tcPr/>
                </a:tc>
                <a:tc>
                  <a:txBody>
                    <a:bodyPr/>
                    <a:lstStyle/>
                    <a:p>
                      <a:r>
                        <a:rPr sz="1000">
                          <a:solidFill>
                            <a:srgbClr val="0F172A"/>
                          </a:solidFill>
                        </a:rPr>
                        <a:t>0.036</a:t>
                      </a:r>
                    </a:p>
                  </a:txBody>
                  <a:tcPr/>
                </a:tc>
                <a:tc>
                  <a:txBody>
                    <a:bodyPr/>
                    <a:lstStyle/>
                    <a:p>
                      <a:r>
                        <a:rPr sz="1000">
                          <a:solidFill>
                            <a:srgbClr val="0F172A"/>
                          </a:solidFill>
                        </a:rPr>
                        <a:t>0.856</a:t>
                      </a:r>
                    </a:p>
                  </a:txBody>
                  <a:tcPr/>
                </a:tc>
              </a:tr>
            </a:tbl>
          </a:graphicData>
        </a:graphic>
      </p:graphicFrame>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θ = causal effect on rank_delta (positive = LLM promotes, negative = LLM demotes). T7 uses 249 earned-media domains. 65,426 observations across 8 runs.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Cross-Model Comparison</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Do different LLMs agree? Llama-3.3-70B vs Qwen2.5-72B (+ DeepSeek R1 from pilot)</a:t>
            </a:r>
          </a:p>
        </p:txBody>
      </p:sp>
      <p:graphicFrame>
        <p:nvGraphicFramePr>
          <p:cNvPr id="4" name="Table 3"/>
          <p:cNvGraphicFramePr>
            <a:graphicFrameLocks noGrp="1"/>
          </p:cNvGraphicFramePr>
          <p:nvPr/>
        </p:nvGraphicFramePr>
        <p:xfrm>
          <a:off x="548640" y="1463040"/>
          <a:ext cx="10972800" cy="1600200"/>
        </p:xfrm>
        <a:graphic>
          <a:graphicData uri="http://schemas.openxmlformats.org/drawingml/2006/table">
            <a:tbl>
              <a:tblPr firstRow="1" bandRow="1">
                <a:tableStyleId>{5C22544A-7EE6-4342-B048-85BDC9FD1C3A}</a:tableStyleId>
              </a:tblPr>
              <a:tblGrid>
                <a:gridCol w="2194560"/>
                <a:gridCol w="2194560"/>
                <a:gridCol w="2194560"/>
                <a:gridCol w="2194560"/>
                <a:gridCol w="2194560"/>
              </a:tblGrid>
              <a:tr h="320040">
                <a:tc>
                  <a:txBody>
                    <a:bodyPr/>
                    <a:lstStyle/>
                    <a:p>
                      <a:r>
                        <a:rPr sz="1000" b="1">
                          <a:solidFill>
                            <a:srgbClr val="475569"/>
                          </a:solidFill>
                        </a:rPr>
                        <a:t>Model</a:t>
                      </a:r>
                    </a:p>
                  </a:txBody>
                  <a:tcPr/>
                </a:tc>
                <a:tc>
                  <a:txBody>
                    <a:bodyPr/>
                    <a:lstStyle/>
                    <a:p>
                      <a:r>
                        <a:rPr sz="1000" b="1">
                          <a:solidFill>
                            <a:srgbClr val="475569"/>
                          </a:solidFill>
                        </a:rPr>
                        <a:t>Pool</a:t>
                      </a:r>
                    </a:p>
                  </a:txBody>
                  <a:tcPr/>
                </a:tc>
                <a:tc>
                  <a:txBody>
                    <a:bodyPr/>
                    <a:lstStyle/>
                    <a:p>
                      <a:r>
                        <a:rPr sz="1000" b="1">
                          <a:solidFill>
                            <a:srgbClr val="475569"/>
                          </a:solidFill>
                        </a:rPr>
                        <a:t>Outcome</a:t>
                      </a:r>
                    </a:p>
                  </a:txBody>
                  <a:tcPr/>
                </a:tc>
                <a:tc>
                  <a:txBody>
                    <a:bodyPr/>
                    <a:lstStyle/>
                    <a:p>
                      <a:r>
                        <a:rPr sz="1000" b="1">
                          <a:solidFill>
                            <a:srgbClr val="475569"/>
                          </a:solidFill>
                        </a:rPr>
                        <a:t>θ</a:t>
                      </a:r>
                    </a:p>
                  </a:txBody>
                  <a:tcPr/>
                </a:tc>
                <a:tc>
                  <a:txBody>
                    <a:bodyPr/>
                    <a:lstStyle/>
                    <a:p>
                      <a:r>
                        <a:rPr sz="1000" b="1">
                          <a:solidFill>
                            <a:srgbClr val="475569"/>
                          </a:solidFill>
                        </a:rPr>
                        <a:t>p</a:t>
                      </a:r>
                    </a:p>
                  </a:txBody>
                  <a:tcPr/>
                </a:tc>
              </a:tr>
              <a:tr h="320040">
                <a:tc>
                  <a:txBody>
                    <a:bodyPr/>
                    <a:lstStyle/>
                    <a:p>
                      <a:r>
                        <a:rPr sz="1000">
                          <a:solidFill>
                            <a:srgbClr val="0F172A"/>
                          </a:solidFill>
                        </a:rPr>
                        <a:t>Llama-3.3-70B</a:t>
                      </a:r>
                    </a:p>
                  </a:txBody>
                  <a:tcPr/>
                </a:tc>
                <a:tc>
                  <a:txBody>
                    <a:bodyPr/>
                    <a:lstStyle/>
                    <a:p>
                      <a:r>
                        <a:rPr sz="1000">
                          <a:solidFill>
                            <a:srgbClr val="0F172A"/>
                          </a:solidFill>
                        </a:rPr>
                        <a:t>Small</a:t>
                      </a:r>
                    </a:p>
                  </a:txBody>
                  <a:tcPr/>
                </a:tc>
                <a:tc>
                  <a:txBody>
                    <a:bodyPr/>
                    <a:lstStyle/>
                    <a:p>
                      <a:r>
                        <a:rPr sz="1000">
                          <a:solidFill>
                            <a:srgbClr val="0F172A"/>
                          </a:solidFill>
                        </a:rPr>
                        <a:t>rank_delta</a:t>
                      </a:r>
                    </a:p>
                  </a:txBody>
                  <a:tcPr/>
                </a:tc>
                <a:tc>
                  <a:txBody>
                    <a:bodyPr/>
                    <a:lstStyle/>
                    <a:p>
                      <a:r>
                        <a:rPr sz="1000">
                          <a:solidFill>
                            <a:srgbClr val="0F172A"/>
                          </a:solidFill>
                        </a:rPr>
                        <a:t>+1.198</a:t>
                      </a:r>
                    </a:p>
                  </a:txBody>
                  <a:tcPr/>
                </a:tc>
                <a:tc>
                  <a:txBody>
                    <a:bodyPr/>
                    <a:lstStyle/>
                    <a:p>
                      <a:r>
                        <a:rPr sz="1000">
                          <a:solidFill>
                            <a:srgbClr val="0F172A"/>
                          </a:solidFill>
                        </a:rPr>
                        <a:t>0.009</a:t>
                      </a:r>
                    </a:p>
                  </a:txBody>
                  <a:tcPr/>
                </a:tc>
              </a:tr>
              <a:tr h="320040">
                <a:tc>
                  <a:txBody>
                    <a:bodyPr/>
                    <a:lstStyle/>
                    <a:p>
                      <a:r>
                        <a:rPr sz="1000">
                          <a:solidFill>
                            <a:srgbClr val="0F172A"/>
                          </a:solidFill>
                        </a:rPr>
                        <a:t>DeepSeek R1</a:t>
                      </a:r>
                    </a:p>
                  </a:txBody>
                  <a:tcPr/>
                </a:tc>
                <a:tc>
                  <a:txBody>
                    <a:bodyPr/>
                    <a:lstStyle/>
                    <a:p>
                      <a:r>
                        <a:rPr sz="1000">
                          <a:solidFill>
                            <a:srgbClr val="0F172A"/>
                          </a:solidFill>
                        </a:rPr>
                        <a:t>Small</a:t>
                      </a:r>
                    </a:p>
                  </a:txBody>
                  <a:tcPr/>
                </a:tc>
                <a:tc>
                  <a:txBody>
                    <a:bodyPr/>
                    <a:lstStyle/>
                    <a:p>
                      <a:r>
                        <a:rPr sz="1000">
                          <a:solidFill>
                            <a:srgbClr val="0F172A"/>
                          </a:solidFill>
                        </a:rPr>
                        <a:t>rank_delta</a:t>
                      </a:r>
                    </a:p>
                  </a:txBody>
                  <a:tcPr/>
                </a:tc>
                <a:tc>
                  <a:txBody>
                    <a:bodyPr/>
                    <a:lstStyle/>
                    <a:p>
                      <a:r>
                        <a:rPr sz="1000">
                          <a:solidFill>
                            <a:srgbClr val="0F172A"/>
                          </a:solidFill>
                        </a:rPr>
                        <a:t>+0.714</a:t>
                      </a:r>
                    </a:p>
                  </a:txBody>
                  <a:tcPr/>
                </a:tc>
                <a:tc>
                  <a:txBody>
                    <a:bodyPr/>
                    <a:lstStyle/>
                    <a:p>
                      <a:r>
                        <a:rPr sz="1000">
                          <a:solidFill>
                            <a:srgbClr val="0F172A"/>
                          </a:solidFill>
                        </a:rPr>
                        <a:t>0.010</a:t>
                      </a:r>
                    </a:p>
                  </a:txBody>
                  <a:tcPr/>
                </a:tc>
              </a:tr>
              <a:tr h="320040">
                <a:tc>
                  <a:txBody>
                    <a:bodyPr/>
                    <a:lstStyle/>
                    <a:p>
                      <a:r>
                        <a:rPr sz="1000">
                          <a:solidFill>
                            <a:srgbClr val="0F172A"/>
                          </a:solidFill>
                        </a:rPr>
                        <a:t>DeepSeek R1</a:t>
                      </a:r>
                    </a:p>
                  </a:txBody>
                  <a:tcPr/>
                </a:tc>
                <a:tc>
                  <a:txBody>
                    <a:bodyPr/>
                    <a:lstStyle/>
                    <a:p>
                      <a:r>
                        <a:rPr sz="1000">
                          <a:solidFill>
                            <a:srgbClr val="0F172A"/>
                          </a:solidFill>
                        </a:rPr>
                        <a:t>Small</a:t>
                      </a:r>
                    </a:p>
                  </a:txBody>
                  <a:tcPr/>
                </a:tc>
                <a:tc>
                  <a:txBody>
                    <a:bodyPr/>
                    <a:lstStyle/>
                    <a:p>
                      <a:r>
                        <a:rPr sz="1000">
                          <a:solidFill>
                            <a:srgbClr val="0F172A"/>
                          </a:solidFill>
                        </a:rPr>
                        <a:t>post_rank</a:t>
                      </a:r>
                    </a:p>
                  </a:txBody>
                  <a:tcPr/>
                </a:tc>
                <a:tc>
                  <a:txBody>
                    <a:bodyPr/>
                    <a:lstStyle/>
                    <a:p>
                      <a:r>
                        <a:rPr sz="1000">
                          <a:solidFill>
                            <a:srgbClr val="0F172A"/>
                          </a:solidFill>
                        </a:rPr>
                        <a:t>-0.822</a:t>
                      </a:r>
                    </a:p>
                  </a:txBody>
                  <a:tcPr/>
                </a:tc>
                <a:tc>
                  <a:txBody>
                    <a:bodyPr/>
                    <a:lstStyle/>
                    <a:p>
                      <a:r>
                        <a:rPr sz="1000">
                          <a:solidFill>
                            <a:srgbClr val="0F172A"/>
                          </a:solidFill>
                        </a:rPr>
                        <a:t>0.0007</a:t>
                      </a:r>
                    </a:p>
                  </a:txBody>
                  <a:tcPr/>
                </a:tc>
              </a:tr>
              <a:tr h="320040">
                <a:tc>
                  <a:txBody>
                    <a:bodyPr/>
                    <a:lstStyle/>
                    <a:p>
                      <a:r>
                        <a:rPr sz="1000">
                          <a:solidFill>
                            <a:srgbClr val="0F172A"/>
                          </a:solidFill>
                        </a:rPr>
                        <a:t>Llama-3.3-70B</a:t>
                      </a:r>
                    </a:p>
                  </a:txBody>
                  <a:tcPr/>
                </a:tc>
                <a:tc>
                  <a:txBody>
                    <a:bodyPr/>
                    <a:lstStyle/>
                    <a:p>
                      <a:r>
                        <a:rPr sz="1000">
                          <a:solidFill>
                            <a:srgbClr val="0F172A"/>
                          </a:solidFill>
                        </a:rPr>
                        <a:t>Large</a:t>
                      </a:r>
                    </a:p>
                  </a:txBody>
                  <a:tcPr/>
                </a:tc>
                <a:tc>
                  <a:txBody>
                    <a:bodyPr/>
                    <a:lstStyle/>
                    <a:p>
                      <a:r>
                        <a:rPr sz="1000">
                          <a:solidFill>
                            <a:srgbClr val="0F172A"/>
                          </a:solidFill>
                        </a:rPr>
                        <a:t>rank_delta</a:t>
                      </a:r>
                    </a:p>
                  </a:txBody>
                  <a:tcPr/>
                </a:tc>
                <a:tc>
                  <a:txBody>
                    <a:bodyPr/>
                    <a:lstStyle/>
                    <a:p>
                      <a:r>
                        <a:rPr sz="1000">
                          <a:solidFill>
                            <a:srgbClr val="0F172A"/>
                          </a:solidFill>
                        </a:rPr>
                        <a:t>-2.92</a:t>
                      </a:r>
                    </a:p>
                  </a:txBody>
                  <a:tcPr/>
                </a:tc>
                <a:tc>
                  <a:txBody>
                    <a:bodyPr/>
                    <a:lstStyle/>
                    <a:p>
                      <a:r>
                        <a:rPr sz="1000">
                          <a:solidFill>
                            <a:srgbClr val="0F172A"/>
                          </a:solidFill>
                        </a:rPr>
                        <a:t>0.002</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Qwen vs Llama: Behavioral Differences</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Same treatments, different sensitivities</a:t>
            </a:r>
          </a:p>
        </p:txBody>
      </p:sp>
      <p:graphicFrame>
        <p:nvGraphicFramePr>
          <p:cNvPr id="4" name="Table 3"/>
          <p:cNvGraphicFramePr>
            <a:graphicFrameLocks noGrp="1"/>
          </p:cNvGraphicFramePr>
          <p:nvPr/>
        </p:nvGraphicFramePr>
        <p:xfrm>
          <a:off x="548640" y="1463040"/>
          <a:ext cx="10972800" cy="960119"/>
        </p:xfrm>
        <a:graphic>
          <a:graphicData uri="http://schemas.openxmlformats.org/drawingml/2006/table">
            <a:tbl>
              <a:tblPr firstRow="1" bandRow="1">
                <a:tableStyleId>{5C22544A-7EE6-4342-B048-85BDC9FD1C3A}</a:tableStyleId>
              </a:tblPr>
              <a:tblGrid>
                <a:gridCol w="2743200"/>
                <a:gridCol w="2743200"/>
                <a:gridCol w="2743200"/>
                <a:gridCol w="2743200"/>
              </a:tblGrid>
              <a:tr h="320039">
                <a:tc>
                  <a:txBody>
                    <a:bodyPr/>
                    <a:lstStyle/>
                    <a:p>
                      <a:r>
                        <a:rPr sz="1000" b="1">
                          <a:solidFill>
                            <a:srgbClr val="475569"/>
                          </a:solidFill>
                        </a:rPr>
                        <a:t>Model</a:t>
                      </a:r>
                    </a:p>
                  </a:txBody>
                  <a:tcPr/>
                </a:tc>
                <a:tc>
                  <a:txBody>
                    <a:bodyPr/>
                    <a:lstStyle/>
                    <a:p>
                      <a:r>
                        <a:rPr sz="1000" b="1">
                          <a:solidFill>
                            <a:srgbClr val="475569"/>
                          </a:solidFill>
                        </a:rPr>
                        <a:t>DuckDuckGo</a:t>
                      </a:r>
                    </a:p>
                  </a:txBody>
                  <a:tcPr/>
                </a:tc>
                <a:tc>
                  <a:txBody>
                    <a:bodyPr/>
                    <a:lstStyle/>
                    <a:p>
                      <a:r>
                        <a:rPr sz="1000" b="1">
                          <a:solidFill>
                            <a:srgbClr val="475569"/>
                          </a:solidFill>
                        </a:rPr>
                        <a:t>SearXNG</a:t>
                      </a:r>
                    </a:p>
                  </a:txBody>
                  <a:tcPr/>
                </a:tc>
                <a:tc>
                  <a:txBody>
                    <a:bodyPr/>
                    <a:lstStyle/>
                    <a:p>
                      <a:r>
                        <a:rPr sz="1000" b="1">
                          <a:solidFill>
                            <a:srgbClr val="475569"/>
                          </a:solidFill>
                        </a:rPr>
                        <a:t>Overall</a:t>
                      </a:r>
                    </a:p>
                  </a:txBody>
                  <a:tcPr/>
                </a:tc>
              </a:tr>
              <a:tr h="320039">
                <a:tc>
                  <a:txBody>
                    <a:bodyPr/>
                    <a:lstStyle/>
                    <a:p>
                      <a:r>
                        <a:rPr sz="1000">
                          <a:solidFill>
                            <a:srgbClr val="0F172A"/>
                          </a:solidFill>
                        </a:rPr>
                        <a:t>Qwen 2.5-72B</a:t>
                      </a:r>
                    </a:p>
                  </a:txBody>
                  <a:tcPr/>
                </a:tc>
                <a:tc>
                  <a:txBody>
                    <a:bodyPr/>
                    <a:lstStyle/>
                    <a:p>
                      <a:r>
                        <a:rPr sz="1000">
                          <a:solidFill>
                            <a:srgbClr val="0F172A"/>
                          </a:solidFill>
                        </a:rPr>
                        <a:t>33.8%</a:t>
                      </a:r>
                    </a:p>
                  </a:txBody>
                  <a:tcPr/>
                </a:tc>
                <a:tc>
                  <a:txBody>
                    <a:bodyPr/>
                    <a:lstStyle/>
                    <a:p>
                      <a:r>
                        <a:rPr sz="1000">
                          <a:solidFill>
                            <a:srgbClr val="0F172A"/>
                          </a:solidFill>
                        </a:rPr>
                        <a:t>30.6%</a:t>
                      </a:r>
                    </a:p>
                  </a:txBody>
                  <a:tcPr/>
                </a:tc>
                <a:tc>
                  <a:txBody>
                    <a:bodyPr/>
                    <a:lstStyle/>
                    <a:p>
                      <a:r>
                        <a:rPr sz="1000">
                          <a:solidFill>
                            <a:srgbClr val="0F172A"/>
                          </a:solidFill>
                        </a:rPr>
                        <a:t>32.4%</a:t>
                      </a:r>
                    </a:p>
                  </a:txBody>
                  <a:tcPr/>
                </a:tc>
              </a:tr>
              <a:tr h="320041">
                <a:tc>
                  <a:txBody>
                    <a:bodyPr/>
                    <a:lstStyle/>
                    <a:p>
                      <a:r>
                        <a:rPr sz="1000">
                          <a:solidFill>
                            <a:srgbClr val="0F172A"/>
                          </a:solidFill>
                        </a:rPr>
                        <a:t>Llama 3.3-70B</a:t>
                      </a:r>
                    </a:p>
                  </a:txBody>
                  <a:tcPr/>
                </a:tc>
                <a:tc>
                  <a:txBody>
                    <a:bodyPr/>
                    <a:lstStyle/>
                    <a:p>
                      <a:r>
                        <a:rPr sz="1000">
                          <a:solidFill>
                            <a:srgbClr val="0F172A"/>
                          </a:solidFill>
                        </a:rPr>
                        <a:t>23.5%</a:t>
                      </a:r>
                    </a:p>
                  </a:txBody>
                  <a:tcPr/>
                </a:tc>
                <a:tc>
                  <a:txBody>
                    <a:bodyPr/>
                    <a:lstStyle/>
                    <a:p>
                      <a:r>
                        <a:rPr sz="1000">
                          <a:solidFill>
                            <a:srgbClr val="0F172A"/>
                          </a:solidFill>
                        </a:rPr>
                        <a:t>38.9%</a:t>
                      </a:r>
                    </a:p>
                  </a:txBody>
                  <a:tcPr/>
                </a:tc>
                <a:tc>
                  <a:txBody>
                    <a:bodyPr/>
                    <a:lstStyle/>
                    <a:p>
                      <a:r>
                        <a:rPr sz="1000">
                          <a:solidFill>
                            <a:srgbClr val="0F172A"/>
                          </a:solidFill>
                        </a:rPr>
                        <a:t>23.0%</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The Counterintuitive Findings</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What SEO “best practices” actually hurt in LLM re-ranking</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Surprise #1: Freshness Hurts</a:t>
            </a:r>
          </a:p>
          <a:p>
            <a:pPr>
              <a:spcAft>
                <a:spcPts val="600"/>
              </a:spcAft>
            </a:pPr>
            <a:r>
              <a:rPr sz="1400" b="1">
                <a:solidFill>
                  <a:srgbClr val="2563EB"/>
                </a:solidFill>
              </a:rPr>
              <a:t>Surprise #2: Schema Markup</a:t>
            </a:r>
          </a:p>
          <a:p>
            <a:pPr>
              <a:spcAft>
                <a:spcPts val="600"/>
              </a:spcAft>
            </a:pPr>
            <a:r>
              <a:rPr sz="1400" b="1">
                <a:solidFill>
                  <a:srgbClr val="2563EB"/>
                </a:solidFill>
              </a:rPr>
              <a:t>Surprise #3: Citations Don't Help</a:t>
            </a:r>
          </a:p>
          <a:p>
            <a:pPr>
              <a:spcAft>
                <a:spcPts val="600"/>
              </a:spcAft>
            </a:pPr>
            <a:r>
              <a:rPr sz="1400" b="1">
                <a:solidFill>
                  <a:srgbClr val="2563EB"/>
                </a:solidFill>
              </a:rPr>
              <a:t>The Winner: Topic Match &gt; Everything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Robustness Checks</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Results hold across engines, models, pool sizes, and ML learners</a:t>
            </a:r>
          </a:p>
        </p:txBody>
      </p:sp>
      <p:graphicFrame>
        <p:nvGraphicFramePr>
          <p:cNvPr id="4" name="Table 3"/>
          <p:cNvGraphicFramePr>
            <a:graphicFrameLocks noGrp="1"/>
          </p:cNvGraphicFramePr>
          <p:nvPr/>
        </p:nvGraphicFramePr>
        <p:xfrm>
          <a:off x="548640" y="1463040"/>
          <a:ext cx="10972800" cy="1920239"/>
        </p:xfrm>
        <a:graphic>
          <a:graphicData uri="http://schemas.openxmlformats.org/drawingml/2006/table">
            <a:tbl>
              <a:tblPr firstRow="1" bandRow="1">
                <a:tableStyleId>{5C22544A-7EE6-4342-B048-85BDC9FD1C3A}</a:tableStyleId>
              </a:tblPr>
              <a:tblGrid>
                <a:gridCol w="2743200"/>
                <a:gridCol w="2743200"/>
                <a:gridCol w="2743200"/>
                <a:gridCol w="2743200"/>
              </a:tblGrid>
              <a:tr h="320039">
                <a:tc>
                  <a:txBody>
                    <a:bodyPr/>
                    <a:lstStyle/>
                    <a:p>
                      <a:r>
                        <a:rPr sz="1000" b="1">
                          <a:solidFill>
                            <a:srgbClr val="475569"/>
                          </a:solidFill>
                        </a:rPr>
                        <a:t>Treatment</a:t>
                      </a:r>
                    </a:p>
                  </a:txBody>
                  <a:tcPr/>
                </a:tc>
                <a:tc>
                  <a:txBody>
                    <a:bodyPr/>
                    <a:lstStyle/>
                    <a:p>
                      <a:r>
                        <a:rPr sz="1000" b="1">
                          <a:solidFill>
                            <a:srgbClr val="475569"/>
                          </a:solidFill>
                        </a:rPr>
                        <a:t>LGBM sig</a:t>
                      </a:r>
                    </a:p>
                  </a:txBody>
                  <a:tcPr/>
                </a:tc>
                <a:tc>
                  <a:txBody>
                    <a:bodyPr/>
                    <a:lstStyle/>
                    <a:p>
                      <a:r>
                        <a:rPr sz="1000" b="1">
                          <a:solidFill>
                            <a:srgbClr val="475569"/>
                          </a:solidFill>
                        </a:rPr>
                        <a:t>RF sig</a:t>
                      </a:r>
                    </a:p>
                  </a:txBody>
                  <a:tcPr/>
                </a:tc>
                <a:tc>
                  <a:txBody>
                    <a:bodyPr/>
                    <a:lstStyle/>
                    <a:p>
                      <a:r>
                        <a:rPr sz="1000" b="1">
                          <a:solidFill>
                            <a:srgbClr val="475569"/>
                          </a:solidFill>
                        </a:rPr>
                        <a:t>Agreement</a:t>
                      </a:r>
                    </a:p>
                  </a:txBody>
                  <a:tcPr/>
                </a:tc>
              </a:tr>
              <a:tr h="320039">
                <a:tc>
                  <a:txBody>
                    <a:bodyPr/>
                    <a:lstStyle/>
                    <a:p>
                      <a:r>
                        <a:rPr sz="1000">
                          <a:solidFill>
                            <a:srgbClr val="0F172A"/>
                          </a:solidFill>
                        </a:rPr>
                        <a:t>T6 Freshness</a:t>
                      </a:r>
                    </a:p>
                  </a:txBody>
                  <a:tcPr/>
                </a:tc>
                <a:tc>
                  <a:txBody>
                    <a:bodyPr/>
                    <a:lstStyle/>
                    <a:p>
                      <a:r>
                        <a:rPr sz="1000">
                          <a:solidFill>
                            <a:srgbClr val="0F172A"/>
                          </a:solidFill>
                        </a:rPr>
                        <a:t>5/8</a:t>
                      </a:r>
                    </a:p>
                  </a:txBody>
                  <a:tcPr/>
                </a:tc>
                <a:tc>
                  <a:txBody>
                    <a:bodyPr/>
                    <a:lstStyle/>
                    <a:p>
                      <a:r>
                        <a:rPr sz="1000">
                          <a:solidFill>
                            <a:srgbClr val="0F172A"/>
                          </a:solidFill>
                        </a:rPr>
                        <a:t>6/8</a:t>
                      </a:r>
                    </a:p>
                  </a:txBody>
                  <a:tcPr/>
                </a:tc>
                <a:tc>
                  <a:txBody>
                    <a:bodyPr/>
                    <a:lstStyle/>
                    <a:p>
                      <a:r>
                        <a:rPr sz="1000">
                          <a:solidFill>
                            <a:srgbClr val="0F172A"/>
                          </a:solidFill>
                        </a:rPr>
                        <a:t>Strong</a:t>
                      </a:r>
                    </a:p>
                  </a:txBody>
                  <a:tcPr/>
                </a:tc>
              </a:tr>
              <a:tr h="320039">
                <a:tc>
                  <a:txBody>
                    <a:bodyPr/>
                    <a:lstStyle/>
                    <a:p>
                      <a:r>
                        <a:rPr sz="1000">
                          <a:solidFill>
                            <a:srgbClr val="0F172A"/>
                          </a:solidFill>
                        </a:rPr>
                        <a:t>T5 Topical Comp.</a:t>
                      </a:r>
                    </a:p>
                  </a:txBody>
                  <a:tcPr/>
                </a:tc>
                <a:tc>
                  <a:txBody>
                    <a:bodyPr/>
                    <a:lstStyle/>
                    <a:p>
                      <a:r>
                        <a:rPr sz="1000">
                          <a:solidFill>
                            <a:srgbClr val="0F172A"/>
                          </a:solidFill>
                        </a:rPr>
                        <a:t>3/8</a:t>
                      </a:r>
                    </a:p>
                  </a:txBody>
                  <a:tcPr/>
                </a:tc>
                <a:tc>
                  <a:txBody>
                    <a:bodyPr/>
                    <a:lstStyle/>
                    <a:p>
                      <a:r>
                        <a:rPr sz="1000">
                          <a:solidFill>
                            <a:srgbClr val="0F172A"/>
                          </a:solidFill>
                        </a:rPr>
                        <a:t>3/8</a:t>
                      </a:r>
                    </a:p>
                  </a:txBody>
                  <a:tcPr/>
                </a:tc>
                <a:tc>
                  <a:txBody>
                    <a:bodyPr/>
                    <a:lstStyle/>
                    <a:p>
                      <a:r>
                        <a:rPr sz="1000">
                          <a:solidFill>
                            <a:srgbClr val="0F172A"/>
                          </a:solidFill>
                        </a:rPr>
                        <a:t>Perfect</a:t>
                      </a:r>
                    </a:p>
                  </a:txBody>
                  <a:tcPr/>
                </a:tc>
              </a:tr>
              <a:tr h="320039">
                <a:tc>
                  <a:txBody>
                    <a:bodyPr/>
                    <a:lstStyle/>
                    <a:p>
                      <a:r>
                        <a:rPr sz="1000">
                          <a:solidFill>
                            <a:srgbClr val="0F172A"/>
                          </a:solidFill>
                        </a:rPr>
                        <a:t>T3 Structured (code)</a:t>
                      </a:r>
                    </a:p>
                  </a:txBody>
                  <a:tcPr/>
                </a:tc>
                <a:tc>
                  <a:txBody>
                    <a:bodyPr/>
                    <a:lstStyle/>
                    <a:p>
                      <a:r>
                        <a:rPr sz="1000">
                          <a:solidFill>
                            <a:srgbClr val="0F172A"/>
                          </a:solidFill>
                        </a:rPr>
                        <a:t>3/8</a:t>
                      </a:r>
                    </a:p>
                  </a:txBody>
                  <a:tcPr/>
                </a:tc>
                <a:tc>
                  <a:txBody>
                    <a:bodyPr/>
                    <a:lstStyle/>
                    <a:p>
                      <a:r>
                        <a:rPr sz="1000">
                          <a:solidFill>
                            <a:srgbClr val="0F172A"/>
                          </a:solidFill>
                        </a:rPr>
                        <a:t>2/8</a:t>
                      </a:r>
                    </a:p>
                  </a:txBody>
                  <a:tcPr/>
                </a:tc>
                <a:tc>
                  <a:txBody>
                    <a:bodyPr/>
                    <a:lstStyle/>
                    <a:p>
                      <a:r>
                        <a:rPr sz="1000">
                          <a:solidFill>
                            <a:srgbClr val="0F172A"/>
                          </a:solidFill>
                        </a:rPr>
                        <a:t>Good</a:t>
                      </a:r>
                    </a:p>
                  </a:txBody>
                  <a:tcPr/>
                </a:tc>
              </a:tr>
              <a:tr h="320039">
                <a:tc>
                  <a:txBody>
                    <a:bodyPr/>
                    <a:lstStyle/>
                    <a:p>
                      <a:r>
                        <a:rPr sz="1000">
                          <a:solidFill>
                            <a:srgbClr val="0F172A"/>
                          </a:solidFill>
                        </a:rPr>
                        <a:t>T2a Q-Headings</a:t>
                      </a:r>
                    </a:p>
                  </a:txBody>
                  <a:tcPr/>
                </a:tc>
                <a:tc>
                  <a:txBody>
                    <a:bodyPr/>
                    <a:lstStyle/>
                    <a:p>
                      <a:r>
                        <a:rPr sz="1000">
                          <a:solidFill>
                            <a:srgbClr val="0F172A"/>
                          </a:solidFill>
                        </a:rPr>
                        <a:t>3/8</a:t>
                      </a:r>
                    </a:p>
                  </a:txBody>
                  <a:tcPr/>
                </a:tc>
                <a:tc>
                  <a:txBody>
                    <a:bodyPr/>
                    <a:lstStyle/>
                    <a:p>
                      <a:r>
                        <a:rPr sz="1000">
                          <a:solidFill>
                            <a:srgbClr val="0F172A"/>
                          </a:solidFill>
                        </a:rPr>
                        <a:t>3/8</a:t>
                      </a:r>
                    </a:p>
                  </a:txBody>
                  <a:tcPr/>
                </a:tc>
                <a:tc>
                  <a:txBody>
                    <a:bodyPr/>
                    <a:lstStyle/>
                    <a:p>
                      <a:r>
                        <a:rPr sz="1000">
                          <a:solidFill>
                            <a:srgbClr val="0F172A"/>
                          </a:solidFill>
                        </a:rPr>
                        <a:t>Perfect</a:t>
                      </a:r>
                    </a:p>
                  </a:txBody>
                  <a:tcPr/>
                </a:tc>
              </a:tr>
              <a:tr h="320044">
                <a:tc>
                  <a:txBody>
                    <a:bodyPr/>
                    <a:lstStyle/>
                    <a:p>
                      <a:r>
                        <a:rPr sz="1000">
                          <a:solidFill>
                            <a:srgbClr val="0F172A"/>
                          </a:solidFill>
                        </a:rPr>
                        <a:t>T3 Structured (exp.)</a:t>
                      </a:r>
                    </a:p>
                  </a:txBody>
                  <a:tcPr/>
                </a:tc>
                <a:tc>
                  <a:txBody>
                    <a:bodyPr/>
                    <a:lstStyle/>
                    <a:p>
                      <a:r>
                        <a:rPr sz="1000">
                          <a:solidFill>
                            <a:srgbClr val="0F172A"/>
                          </a:solidFill>
                        </a:rPr>
                        <a:t>4/8</a:t>
                      </a:r>
                    </a:p>
                  </a:txBody>
                  <a:tcPr/>
                </a:tc>
                <a:tc>
                  <a:txBody>
                    <a:bodyPr/>
                    <a:lstStyle/>
                    <a:p>
                      <a:r>
                        <a:rPr sz="1000">
                          <a:solidFill>
                            <a:srgbClr val="0F172A"/>
                          </a:solidFill>
                        </a:rPr>
                        <a:t>5/8</a:t>
                      </a:r>
                    </a:p>
                  </a:txBody>
                  <a:tcPr/>
                </a:tc>
                <a:tc>
                  <a:txBody>
                    <a:bodyPr/>
                    <a:lstStyle/>
                    <a:p>
                      <a:r>
                        <a:rPr sz="1000">
                          <a:solidFill>
                            <a:srgbClr val="0F172A"/>
                          </a:solidFill>
                        </a:rPr>
                        <a:t>Strong</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Actionable Recommendations for GEO</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What to tell your content team based on causal evidence</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DO: High-Impact Actions</a:t>
            </a:r>
          </a:p>
          <a:p>
            <a:pPr>
              <a:spcAft>
                <a:spcPts val="600"/>
              </a:spcAft>
            </a:pPr>
            <a:r>
              <a:rPr sz="1400" b="1">
                <a:solidFill>
                  <a:srgbClr val="2563EB"/>
                </a:solidFill>
              </a:rPr>
              <a:t>DON'T: Common Mistakes</a:t>
            </a:r>
          </a:p>
          <a:p>
            <a:pPr>
              <a:spcAft>
                <a:spcPts val="600"/>
              </a:spcAft>
            </a:pPr>
            <a:r>
              <a:rPr sz="1400" b="1">
                <a:solidFill>
                  <a:srgbClr val="2563EB"/>
                </a:solidFill>
              </a:rPr>
              <a:t>The Bottom Line</a:t>
            </a:r>
          </a:p>
          <a:p>
            <a:pPr>
              <a:spcAft>
                <a:spcPts val="600"/>
              </a:spcAft>
            </a:pPr>
            <a:r>
              <a:rPr sz="1200">
                <a:solidFill>
                  <a:srgbClr val="0F172A"/>
                </a:solidFill>
              </a:rPr>
              <a:t>→ Write for topical depth, not keywords. Topical competence (+0.61 positions) is the strongest positive signal. Cover the query comprehensively.</a:t>
            </a:r>
          </a:p>
          <a:p>
            <a:pPr>
              <a:spcAft>
                <a:spcPts val="600"/>
              </a:spcAft>
            </a:pPr>
            <a:r>
              <a:rPr sz="1200">
                <a:solidFill>
                  <a:srgbClr val="0F172A"/>
                </a:solidFill>
              </a:rPr>
              <a:t>→ Be the primary source. Earned media (reviews, press, aggregators) is demoted -1.68 positions. First-party authoritative content wins.</a:t>
            </a:r>
          </a:p>
          <a:p>
            <a:pPr>
              <a:spcAft>
                <a:spcPts val="600"/>
              </a:spcAft>
            </a:pPr>
            <a:r>
              <a:rPr sz="1200">
                <a:solidFill>
                  <a:srgbClr val="0F172A"/>
                </a:solidFill>
              </a:rPr>
              <a:t>→ Use clean JSON-LD schema. Well-formed FAQ/Product/HowTo markup helps (+0.15). Keep it simple and accurate.</a:t>
            </a:r>
          </a:p>
          <a:p>
            <a:pPr>
              <a:spcAft>
                <a:spcPts val="600"/>
              </a:spcAft>
            </a:pPr>
            <a:r>
              <a:rPr sz="1200">
                <a:solidFill>
                  <a:srgbClr val="0F172A"/>
                </a:solidFill>
              </a:rPr>
              <a:t>→ Structure with question headings. H2/H3 tags phrased as natural-language questions gain +0.10 positions.</a:t>
            </a:r>
          </a:p>
          <a:p>
            <a:pPr>
              <a:spcAft>
                <a:spcPts val="600"/>
              </a:spcAft>
            </a:pPr>
            <a:r>
              <a:rPr sz="1200">
                <a:solidFill>
                  <a:srgbClr val="0F172A"/>
                </a:solidFill>
              </a:rPr>
              <a:t>→ Favor evergreen depth over recency. Don't aggressively date-stamp content. LLMs prefer authority over freshness.</a:t>
            </a:r>
          </a:p>
          <a:p>
            <a:pPr>
              <a:spcAft>
                <a:spcPts val="600"/>
              </a:spcAft>
            </a:pPr>
            <a:r>
              <a:rPr sz="1200">
                <a:solidFill>
                  <a:srgbClr val="0F172A"/>
                </a:solidFill>
              </a:rPr>
              <a:t>→ Don't rely on third-party coverage. Earned media (G2, Capterra, Forbes, Reddit) loses -1.68 positions. The LLM wants the official source, not a review.</a:t>
            </a:r>
          </a:p>
          <a:p>
            <a:pPr>
              <a:spcAft>
                <a:spcPts val="600"/>
              </a:spcAft>
            </a:pPr>
            <a:r>
              <a:rPr sz="1200">
                <a:solidFill>
                  <a:srgbClr val="0F172A"/>
                </a:solidFill>
              </a:rPr>
              <a:t>→ Don't over-optimize freshness signals. Aggressive “last updated” manipulation actually hurts (-0.056 per level).</a:t>
            </a:r>
          </a:p>
          <a:p>
            <a:pPr>
              <a:spcAft>
                <a:spcPts val="600"/>
              </a:spcAft>
            </a:pPr>
            <a:r>
              <a:rPr sz="1200">
                <a:solidFill>
                  <a:srgbClr val="0F172A"/>
                </a:solidFill>
              </a:rPr>
              <a:t>→ Don't stuff structured data. Excessive/complex schemas backfire (-0.14). Quality over quantity.</a:t>
            </a:r>
          </a:p>
          <a:p>
            <a:pPr>
              <a:spcAft>
                <a:spcPts val="600"/>
              </a:spcAft>
            </a:pPr>
            <a:r>
              <a:rPr sz="1200">
                <a:solidFill>
                  <a:srgbClr val="0F172A"/>
                </a:solidFill>
              </a:rPr>
              <a:t>→ Don't expect citation links to help. Outbound links to .edu/.gov don't improve LLM rankings (-0.019)</a:t>
            </a:r>
          </a:p>
          <a:p>
            <a:pPr>
              <a:spcAft>
                <a:spcPts val="600"/>
              </a:spcAft>
            </a:pPr>
            <a:r>
              <a:rPr sz="1200">
                <a:solidFill>
                  <a:srgbClr val="0F172A"/>
                </a:solidFill>
              </a:rPr>
              <a:t>→ Don't pack pages with numbers. Dense statistics have a small negative effect (-0.017). Focus on clarity.</a:t>
            </a:r>
          </a:p>
        </p:txBody>
      </p:sp>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GEODML Project · April 2026 · Data: DuckDuckGo &amp; SearXNG, re-ranked by Llama-3.3-70B &amp; Qwen2.5-72B via HuggingFace. Analysis: DoubleML library (PLR, 5-fold CV). All 8 runs complete.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Expansion</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Next-phase data enrichment to sharpen causal estimates</a:t>
            </a:r>
          </a:p>
        </p:txBody>
      </p:sp>
      <p:sp>
        <p:nvSpPr>
          <p:cNvPr id="4" name="TextBox 3"/>
          <p:cNvSpPr txBox="1"/>
          <p:nvPr/>
        </p:nvSpPr>
        <p:spPr>
          <a:xfrm>
            <a:off x="548640" y="1463040"/>
            <a:ext cx="10972800" cy="4572000"/>
          </a:xfrm>
          <a:prstGeom prst="rect">
            <a:avLst/>
          </a:prstGeom>
          <a:noFill/>
        </p:spPr>
        <p:txBody>
          <a:bodyPr wrap="square">
            <a:spAutoFit/>
          </a:bodyPr>
          <a:lstStyle/>
          <a:p>
            <a:pPr>
              <a:spcAft>
                <a:spcPts val="600"/>
              </a:spcAft>
            </a:pPr>
            <a:r>
              <a:rPr sz="1400" b="1">
                <a:solidFill>
                  <a:srgbClr val="2563EB"/>
                </a:solidFill>
              </a:rPr>
              <a:t>SEMRush API</a:t>
            </a:r>
          </a:p>
          <a:p>
            <a:pPr>
              <a:spcAft>
                <a:spcPts val="600"/>
              </a:spcAft>
            </a:pPr>
            <a:r>
              <a:rPr sz="1400" b="1">
                <a:solidFill>
                  <a:srgbClr val="2563EB"/>
                </a:solidFill>
              </a:rPr>
              <a:t>LLM Feature Extraction (2nd pass)</a:t>
            </a:r>
          </a:p>
          <a:p>
            <a:pPr>
              <a:spcAft>
                <a:spcPts val="600"/>
              </a:spcAft>
            </a:pPr>
            <a:r>
              <a:rPr sz="1400" b="1">
                <a:solidFill>
                  <a:srgbClr val="2563EB"/>
                </a:solidFill>
              </a:rPr>
              <a:t>Why backlinks matter</a:t>
            </a:r>
          </a:p>
          <a:p>
            <a:pPr>
              <a:spcAft>
                <a:spcPts val="600"/>
              </a:spcAft>
            </a:pPr>
            <a:r>
              <a:rPr sz="1400" b="1">
                <a:solidFill>
                  <a:srgbClr val="2563EB"/>
                </a:solidFill>
              </a:rPr>
              <a:t>Why LLM-based earned media</a:t>
            </a:r>
          </a:p>
          <a:p>
            <a:pPr>
              <a:spcAft>
                <a:spcPts val="600"/>
              </a:spcAft>
            </a:pPr>
            <a:r>
              <a:rPr sz="1400" b="1">
                <a:solidFill>
                  <a:srgbClr val="2563EB"/>
                </a:solidFill>
              </a:rPr>
              <a:t>Why promotional tone</a:t>
            </a:r>
          </a:p>
          <a:p>
            <a:pPr>
              <a:spcAft>
                <a:spcPts val="600"/>
              </a:spcAft>
            </a:pPr>
            <a:r>
              <a:rPr sz="1200">
                <a:solidFill>
                  <a:srgbClr val="0F172A"/>
                </a:solidFill>
              </a:rPr>
              <a:t>→ Backlink authority score per page (replaces our proxy domain authority)</a:t>
            </a:r>
          </a:p>
          <a:p>
            <a:pPr>
              <a:spcAft>
                <a:spcPts val="600"/>
              </a:spcAft>
            </a:pPr>
            <a:r>
              <a:rPr sz="1200">
                <a:solidFill>
                  <a:srgbClr val="0F172A"/>
                </a:solidFill>
              </a:rPr>
              <a:t>→ Referring domains count (external link graph depth)</a:t>
            </a:r>
          </a:p>
          <a:p>
            <a:pPr>
              <a:spcAft>
                <a:spcPts val="600"/>
              </a:spcAft>
            </a:pPr>
            <a:r>
              <a:rPr sz="1200">
                <a:solidFill>
                  <a:srgbClr val="0F172A"/>
                </a:solidFill>
              </a:rPr>
              <a:t>→ Page-level organic traffic (real visibility, not just rank)</a:t>
            </a:r>
          </a:p>
          <a:p>
            <a:pPr>
              <a:spcAft>
                <a:spcPts val="600"/>
              </a:spcAft>
            </a:pPr>
            <a:r>
              <a:rPr sz="1200">
                <a:solidFill>
                  <a:srgbClr val="0F172A"/>
                </a:solidFill>
              </a:rPr>
              <a:t>→ Query intent classification (informational / navigational / transactional / commercial)</a:t>
            </a:r>
          </a:p>
          <a:p>
            <a:pPr>
              <a:spcAft>
                <a:spcPts val="600"/>
              </a:spcAft>
            </a:pPr>
            <a:r>
              <a:rPr sz="1200">
                <a:solidFill>
                  <a:srgbClr val="0F172A"/>
                </a:solidFill>
              </a:rPr>
              <a:t>→ Domain Authority &amp; Trust Score at the domain level</a:t>
            </a:r>
          </a:p>
          <a:p>
            <a:pPr>
              <a:spcAft>
                <a:spcPts val="600"/>
              </a:spcAft>
            </a:pPr>
            <a:r>
              <a:rPr sz="1200">
                <a:solidFill>
                  <a:srgbClr val="0F172A"/>
                </a:solidFill>
              </a:rPr>
              <a:t>→ Keyword difficulty &amp; search volume per query</a:t>
            </a:r>
          </a:p>
          <a:p>
            <a:pPr>
              <a:spcAft>
                <a:spcPts val="600"/>
              </a:spcAft>
            </a:pPr>
            <a:r>
              <a:rPr sz="1200">
                <a:solidFill>
                  <a:srgbClr val="0F172A"/>
                </a:solidFill>
              </a:rPr>
              <a:t>→ Inverted pyramid / conclusion-first score (does the page lead with the answer?)</a:t>
            </a:r>
          </a:p>
          <a:p>
            <a:pPr>
              <a:spcAft>
                <a:spcPts val="600"/>
              </a:spcAft>
            </a:pPr>
            <a:r>
              <a:rPr sz="1200">
                <a:solidFill>
                  <a:srgbClr val="0F172A"/>
                </a:solidFill>
              </a:rPr>
              <a:t>→ Promotional tone index (neutral editorial vs. sales-heavy copy)</a:t>
            </a:r>
          </a:p>
          <a:p>
            <a:pPr>
              <a:spcAft>
                <a:spcPts val="600"/>
              </a:spcAft>
            </a:pPr>
            <a:r>
              <a:rPr sz="1200">
                <a:solidFill>
                  <a:srgbClr val="0F172A"/>
                </a:solidFill>
              </a:rPr>
              <a:t>→ Earned media classification (LLM-based, replacing the hardcoded 249-domain list)</a:t>
            </a:r>
          </a:p>
          <a:p>
            <a:pPr>
              <a:spcAft>
                <a:spcPts val="600"/>
              </a:spcAft>
            </a:pPr>
            <a:r>
              <a:rPr sz="1200">
                <a:solidFill>
                  <a:srgbClr val="0F172A"/>
                </a:solidFill>
              </a:rPr>
              <a:t>→ Content depth score (surface-level listicle vs. comprehensive guide)</a:t>
            </a:r>
          </a:p>
          <a:p>
            <a:pPr>
              <a:spcAft>
                <a:spcPts val="600"/>
              </a:spcAft>
            </a:pPr>
            <a:r>
              <a:rPr sz="1200">
                <a:solidFill>
                  <a:srgbClr val="0F172A"/>
                </a:solidFill>
              </a:rPr>
              <a:t>→ Jargon density (accessibility vs. technical depth trade-off)</a:t>
            </a:r>
          </a:p>
        </p:txBody>
      </p:sp>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Data infrastructure: cached HTML already available for LLM re-extraction. SEMRush API requires commercial subscription (batch endpoint for ~15K domains).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0972800" cy="731520"/>
          </a:xfrm>
          <a:prstGeom prst="rect">
            <a:avLst/>
          </a:prstGeom>
          <a:noFill/>
        </p:spPr>
        <p:txBody>
          <a:bodyPr wrap="square">
            <a:spAutoFit/>
          </a:bodyPr>
          <a:lstStyle/>
          <a:p>
            <a:pPr>
              <a:spcAft>
                <a:spcPts val="400"/>
              </a:spcAft>
            </a:pPr>
            <a:r>
              <a:rPr sz="3200" b="1">
                <a:solidFill>
                  <a:srgbClr val="0F172A"/>
                </a:solidFill>
              </a:rPr>
              <a:t>Bibliography</a:t>
            </a:r>
          </a:p>
        </p:txBody>
      </p:sp>
      <p:sp>
        <p:nvSpPr>
          <p:cNvPr id="3" name="TextBox 2"/>
          <p:cNvSpPr txBox="1"/>
          <p:nvPr/>
        </p:nvSpPr>
        <p:spPr>
          <a:xfrm>
            <a:off x="548640" y="914400"/>
            <a:ext cx="10972800" cy="457200"/>
          </a:xfrm>
          <a:prstGeom prst="rect">
            <a:avLst/>
          </a:prstGeom>
          <a:noFill/>
        </p:spPr>
        <p:txBody>
          <a:bodyPr wrap="square">
            <a:spAutoFit/>
          </a:bodyPr>
          <a:lstStyle/>
          <a:p>
            <a:pPr>
              <a:spcAft>
                <a:spcPts val="400"/>
              </a:spcAft>
            </a:pPr>
            <a:r>
              <a:rPr sz="1600" b="0">
                <a:solidFill>
                  <a:srgbClr val="475569"/>
                </a:solidFill>
              </a:rPr>
              <a:t>Key references informing treatments, covariates, and experimental design</a:t>
            </a:r>
          </a:p>
        </p:txBody>
      </p:sp>
      <p:graphicFrame>
        <p:nvGraphicFramePr>
          <p:cNvPr id="4" name="Table 3"/>
          <p:cNvGraphicFramePr>
            <a:graphicFrameLocks noGrp="1"/>
          </p:cNvGraphicFramePr>
          <p:nvPr/>
        </p:nvGraphicFramePr>
        <p:xfrm>
          <a:off x="548640" y="1463040"/>
          <a:ext cx="8229600" cy="2240279"/>
        </p:xfrm>
        <a:graphic>
          <a:graphicData uri="http://schemas.openxmlformats.org/drawingml/2006/table">
            <a:tbl>
              <a:tblPr firstRow="1" bandRow="1">
                <a:tableStyleId>{5C22544A-7EE6-4342-B048-85BDC9FD1C3A}</a:tableStyleId>
              </a:tblPr>
              <a:tblGrid>
                <a:gridCol w="2743200"/>
                <a:gridCol w="2743200"/>
                <a:gridCol w="2743200"/>
              </a:tblGrid>
              <a:tr h="320039">
                <a:tc>
                  <a:txBody>
                    <a:bodyPr/>
                    <a:lstStyle/>
                    <a:p>
                      <a:r>
                        <a:rPr sz="1000" b="1">
                          <a:solidFill>
                            <a:srgbClr val="475569"/>
                          </a:solidFill>
                        </a:rPr>
                        <a:t>Ref</a:t>
                      </a:r>
                    </a:p>
                  </a:txBody>
                  <a:tcPr/>
                </a:tc>
                <a:tc>
                  <a:txBody>
                    <a:bodyPr/>
                    <a:lstStyle/>
                    <a:p>
                      <a:r>
                        <a:rPr sz="1000" b="1">
                          <a:solidFill>
                            <a:srgbClr val="475569"/>
                          </a:solidFill>
                        </a:rPr>
                        <a:t>Citation</a:t>
                      </a:r>
                    </a:p>
                  </a:txBody>
                  <a:tcPr/>
                </a:tc>
                <a:tc>
                  <a:txBody>
                    <a:bodyPr/>
                    <a:lstStyle/>
                    <a:p>
                      <a:r>
                        <a:rPr sz="1000" b="1">
                          <a:solidFill>
                            <a:srgbClr val="475569"/>
                          </a:solidFill>
                        </a:rPr>
                        <a:t>Contribution</a:t>
                      </a:r>
                    </a:p>
                  </a:txBody>
                  <a:tcPr/>
                </a:tc>
              </a:tr>
              <a:tr h="320039">
                <a:tc>
                  <a:txBody>
                    <a:bodyPr/>
                    <a:lstStyle/>
                    <a:p>
                      <a:r>
                        <a:rPr sz="1000">
                          <a:solidFill>
                            <a:srgbClr val="0F172A"/>
                          </a:solidFill>
                        </a:rPr>
                        <a:t>[1]</a:t>
                      </a:r>
                    </a:p>
                  </a:txBody>
                  <a:tcPr/>
                </a:tc>
                <a:tc>
                  <a:txBody>
                    <a:bodyPr/>
                    <a:lstStyle/>
                    <a:p>
                      <a:r>
                        <a:rPr sz="1000">
                          <a:solidFill>
                            <a:srgbClr val="0F172A"/>
                          </a:solidFill>
                        </a:rPr>
                        <a:t>Aggarwal, P. et al. "GEO: Generative Engine Optimization." K</a:t>
                      </a:r>
                    </a:p>
                  </a:txBody>
                  <a:tcPr/>
                </a:tc>
                <a:tc>
                  <a:txBody>
                    <a:bodyPr/>
                    <a:lstStyle/>
                    <a:p>
                      <a:r>
                        <a:rPr sz="1000">
                          <a:solidFill>
                            <a:srgbClr val="0F172A"/>
                          </a:solidFill>
                        </a:rPr>
                        <a:t>Foundational GEO treatments: statistics, citations, fluency,</a:t>
                      </a:r>
                    </a:p>
                  </a:txBody>
                  <a:tcPr/>
                </a:tc>
              </a:tr>
              <a:tr h="320039">
                <a:tc>
                  <a:txBody>
                    <a:bodyPr/>
                    <a:lstStyle/>
                    <a:p>
                      <a:r>
                        <a:rPr sz="1000">
                          <a:solidFill>
                            <a:srgbClr val="0F172A"/>
                          </a:solidFill>
                        </a:rPr>
                        <a:t>[2]</a:t>
                      </a:r>
                    </a:p>
                  </a:txBody>
                  <a:tcPr/>
                </a:tc>
                <a:tc>
                  <a:txBody>
                    <a:bodyPr/>
                    <a:lstStyle/>
                    <a:p>
                      <a:r>
                        <a:rPr sz="1000">
                          <a:solidFill>
                            <a:srgbClr val="0F172A"/>
                          </a:solidFill>
                        </a:rPr>
                        <a:t>Wu, Z. et al. "AutoGEO: Automating Content Optimization for </a:t>
                      </a:r>
                    </a:p>
                  </a:txBody>
                  <a:tcPr/>
                </a:tc>
                <a:tc>
                  <a:txBody>
                    <a:bodyPr/>
                    <a:lstStyle/>
                    <a:p>
                      <a:r>
                        <a:rPr sz="1000">
                          <a:solidFill>
                            <a:srgbClr val="0F172A"/>
                          </a:solidFill>
                        </a:rPr>
                        <a:t>Learned rules: conclusion-first, comprehensive coverage, neu</a:t>
                      </a:r>
                    </a:p>
                  </a:txBody>
                  <a:tcPr/>
                </a:tc>
              </a:tr>
              <a:tr h="320039">
                <a:tc>
                  <a:txBody>
                    <a:bodyPr/>
                    <a:lstStyle/>
                    <a:p>
                      <a:r>
                        <a:rPr sz="1000">
                          <a:solidFill>
                            <a:srgbClr val="0F172A"/>
                          </a:solidFill>
                        </a:rPr>
                        <a:t>[3]</a:t>
                      </a:r>
                    </a:p>
                  </a:txBody>
                  <a:tcPr/>
                </a:tc>
                <a:tc>
                  <a:txBody>
                    <a:bodyPr/>
                    <a:lstStyle/>
                    <a:p>
                      <a:r>
                        <a:rPr sz="1000">
                          <a:solidFill>
                            <a:srgbClr val="0F172A"/>
                          </a:solidFill>
                        </a:rPr>
                        <a:t>Chen, X. et al. "MACO: Multi-Agent Content Optimization." Zh</a:t>
                      </a:r>
                    </a:p>
                  </a:txBody>
                  <a:tcPr/>
                </a:tc>
                <a:tc>
                  <a:txBody>
                    <a:bodyPr/>
                    <a:lstStyle/>
                    <a:p>
                      <a:r>
                        <a:rPr sz="1000">
                          <a:solidFill>
                            <a:srgbClr val="0F172A"/>
                          </a:solidFill>
                        </a:rPr>
                        <a:t>Multi-agent iterative content refinement framework</a:t>
                      </a:r>
                    </a:p>
                  </a:txBody>
                  <a:tcPr/>
                </a:tc>
              </a:tr>
              <a:tr h="320039">
                <a:tc>
                  <a:txBody>
                    <a:bodyPr/>
                    <a:lstStyle/>
                    <a:p>
                      <a:r>
                        <a:rPr sz="1000">
                          <a:solidFill>
                            <a:srgbClr val="0F172A"/>
                          </a:solidFill>
                        </a:rPr>
                        <a:t>[4]</a:t>
                      </a:r>
                    </a:p>
                  </a:txBody>
                  <a:tcPr/>
                </a:tc>
                <a:tc>
                  <a:txBody>
                    <a:bodyPr/>
                    <a:lstStyle/>
                    <a:p>
                      <a:r>
                        <a:rPr sz="1000">
                          <a:solidFill>
                            <a:srgbClr val="0F172A"/>
                          </a:solidFill>
                        </a:rPr>
                        <a:t>Kumar, A. et al. "AI Answer Engine Citation Behavior." arXiv</a:t>
                      </a:r>
                    </a:p>
                  </a:txBody>
                  <a:tcPr/>
                </a:tc>
                <a:tc>
                  <a:txBody>
                    <a:bodyPr/>
                    <a:lstStyle/>
                    <a:p>
                      <a:r>
                        <a:rPr sz="1000">
                          <a:solidFill>
                            <a:srgbClr val="0F172A"/>
                          </a:solidFill>
                        </a:rPr>
                        <a:t>Page-quality index: metadata, freshness, semantic HTML, stru</a:t>
                      </a:r>
                    </a:p>
                  </a:txBody>
                  <a:tcPr/>
                </a:tc>
              </a:tr>
              <a:tr h="320039">
                <a:tc>
                  <a:txBody>
                    <a:bodyPr/>
                    <a:lstStyle/>
                    <a:p>
                      <a:r>
                        <a:rPr sz="1000">
                          <a:solidFill>
                            <a:srgbClr val="0F172A"/>
                          </a:solidFill>
                        </a:rPr>
                        <a:t>[5]</a:t>
                      </a:r>
                    </a:p>
                  </a:txBody>
                  <a:tcPr/>
                </a:tc>
                <a:tc>
                  <a:txBody>
                    <a:bodyPr/>
                    <a:lstStyle/>
                    <a:p>
                      <a:r>
                        <a:rPr sz="1000">
                          <a:solidFill>
                            <a:srgbClr val="0F172A"/>
                          </a:solidFill>
                        </a:rPr>
                        <a:t>Hwang, J. et al. "RAG with Estimation of Source Reliability.</a:t>
                      </a:r>
                    </a:p>
                  </a:txBody>
                  <a:tcPr/>
                </a:tc>
                <a:tc>
                  <a:txBody>
                    <a:bodyPr/>
                    <a:lstStyle/>
                    <a:p>
                      <a:r>
                        <a:rPr sz="1000">
                          <a:solidFill>
                            <a:srgbClr val="0F172A"/>
                          </a:solidFill>
                        </a:rPr>
                        <a:t>Source reliability as distinct construct from relevance; cor</a:t>
                      </a:r>
                    </a:p>
                  </a:txBody>
                  <a:tcPr/>
                </a:tc>
              </a:tr>
              <a:tr h="320045">
                <a:tc>
                  <a:txBody>
                    <a:bodyPr/>
                    <a:lstStyle/>
                    <a:p>
                      <a:r>
                        <a:rPr sz="1000">
                          <a:solidFill>
                            <a:srgbClr val="0F172A"/>
                          </a:solidFill>
                        </a:rPr>
                        <a:t>[6]</a:t>
                      </a:r>
                    </a:p>
                  </a:txBody>
                  <a:tcPr/>
                </a:tc>
                <a:tc>
                  <a:txBody>
                    <a:bodyPr/>
                    <a:lstStyle/>
                    <a:p>
                      <a:r>
                        <a:rPr sz="1000">
                          <a:solidFill>
                            <a:srgbClr val="0F172A"/>
                          </a:solidFill>
                        </a:rPr>
                        <a:t>"CiteEval: Principle-Driven Citation Evaluation." ACL, 2025.</a:t>
                      </a:r>
                    </a:p>
                  </a:txBody>
                  <a:tcPr/>
                </a:tc>
                <a:tc>
                  <a:txBody>
                    <a:bodyPr/>
                    <a:lstStyle/>
                    <a:p>
                      <a:r>
                        <a:rPr sz="1000">
                          <a:solidFill>
                            <a:srgbClr val="0F172A"/>
                          </a:solidFill>
                        </a:rPr>
                        <a:t>Citation appropriateness based on supportiveness, not just p</a:t>
                      </a:r>
                    </a:p>
                  </a:txBody>
                  <a:tcPr/>
                </a:tc>
              </a:tr>
            </a:tbl>
          </a:graphicData>
        </a:graphic>
      </p:graphicFrame>
      <p:sp>
        <p:nvSpPr>
          <p:cNvPr id="5" name="TextBox 4"/>
          <p:cNvSpPr txBox="1"/>
          <p:nvPr/>
        </p:nvSpPr>
        <p:spPr>
          <a:xfrm>
            <a:off x="548640" y="6217920"/>
            <a:ext cx="10972800" cy="457200"/>
          </a:xfrm>
          <a:prstGeom prst="rect">
            <a:avLst/>
          </a:prstGeom>
          <a:noFill/>
        </p:spPr>
        <p:txBody>
          <a:bodyPr wrap="square">
            <a:spAutoFit/>
          </a:bodyPr>
          <a:lstStyle/>
          <a:p>
            <a:pPr>
              <a:spcAft>
                <a:spcPts val="400"/>
              </a:spcAft>
            </a:pPr>
            <a:r>
              <a:rPr sz="900" b="0">
                <a:solidFill>
                  <a:srgbClr val="94A3B8"/>
                </a:solidFill>
              </a:rPr>
              <a:t>Full URLs available in project repository. References [4], [5], [6], [14], [15], [16] suggest new covariates not yet in our pipeline (source reliability, promotional tone, document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